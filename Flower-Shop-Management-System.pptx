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67" r:id="rId3"/>
    <p:sldId id="268" r:id="rId4"/>
    <p:sldId id="257" r:id="rId5"/>
    <p:sldId id="259" r:id="rId6"/>
    <p:sldId id="258" r:id="rId7"/>
    <p:sldId id="266" r:id="rId8"/>
    <p:sldId id="269" r:id="rId9"/>
    <p:sldId id="270" r:id="rId10"/>
    <p:sldId id="271" r:id="rId11"/>
    <p:sldId id="261" r:id="rId12"/>
    <p:sldId id="272" r:id="rId13"/>
    <p:sldId id="273" r:id="rId14"/>
    <p:sldId id="274" r:id="rId15"/>
    <p:sldId id="275" r:id="rId16"/>
    <p:sldId id="286" r:id="rId17"/>
    <p:sldId id="288" r:id="rId18"/>
    <p:sldId id="291" r:id="rId19"/>
    <p:sldId id="289" r:id="rId20"/>
    <p:sldId id="293" r:id="rId21"/>
    <p:sldId id="294" r:id="rId22"/>
    <p:sldId id="295" r:id="rId23"/>
    <p:sldId id="290" r:id="rId24"/>
    <p:sldId id="296" r:id="rId25"/>
  </p:sldIdLst>
  <p:sldSz cx="14630400" cy="8229600"/>
  <p:notesSz cx="8229600" cy="14630400"/>
  <p:embeddedFontLst>
    <p:embeddedFont>
      <p:font typeface="Barlow" panose="00000500000000000000" pitchFamily="2" charset="0"/>
      <p:regular r:id="rId27"/>
      <p:bold r:id="rId28"/>
      <p:italic r:id="rId29"/>
      <p:boldItalic r:id="rId30"/>
    </p:embeddedFont>
    <p:embeddedFont>
      <p:font typeface="Calibri" panose="020F0502020204030204" pitchFamily="34" charset="0"/>
      <p:regular r:id="rId31"/>
      <p:bold r:id="rId32"/>
      <p:italic r:id="rId33"/>
      <p:boldItalic r:id="rId34"/>
    </p:embeddedFont>
    <p:embeddedFont>
      <p:font typeface="Calibri Light" panose="020F0302020204030204" pitchFamily="34" charset="0"/>
      <p:regular r:id="rId35"/>
      <p:italic r:id="rId36"/>
    </p:embeddedFont>
    <p:embeddedFont>
      <p:font typeface="Inter" panose="020B0604020202020204" charset="0"/>
      <p:regular r:id="rId37"/>
      <p:bold r:id="rId38"/>
    </p:embeddedFont>
    <p:embeddedFont>
      <p:font typeface="Kanit" panose="020B0604020202020204" charset="-34"/>
      <p:regular r:id="rId39"/>
    </p:embeddedFont>
    <p:embeddedFont>
      <p:font typeface="Martel Sans" panose="020B0604020202020204" charset="0"/>
      <p:regular r:id="rId40"/>
    </p:embeddedFont>
    <p:embeddedFont>
      <p:font typeface="Sitka Text" pitchFamily="2" charset="0"/>
      <p:regular r:id="rId41"/>
      <p:bold r:id="rId42"/>
      <p:italic r:id="rId43"/>
      <p:boldItalic r:id="rId44"/>
    </p:embeddedFont>
    <p:embeddedFont>
      <p:font typeface="Spline Sans" panose="020B0604020202020204" charset="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0C35"/>
    <a:srgbClr val="474654"/>
    <a:srgbClr val="F5F7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1" d="100"/>
          <a:sy n="71" d="100"/>
        </p:scale>
        <p:origin x="132" y="-7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05840" y="7627620"/>
            <a:ext cx="3291840" cy="438150"/>
          </a:xfrm>
        </p:spPr>
        <p:txBody>
          <a:bodyPr/>
          <a:lstStyle/>
          <a:p>
            <a:fld id="{BE8B2FD5-8364-4FE8-B338-EFF7A1420597}" type="datetimeFigureOut">
              <a:rPr lang="en-US" smtClean="0"/>
              <a:t>8/31/2024</a:t>
            </a:fld>
            <a:endParaRPr lang="en-US"/>
          </a:p>
        </p:txBody>
      </p:sp>
      <p:sp>
        <p:nvSpPr>
          <p:cNvPr id="5" name="Footer Placeholder 4"/>
          <p:cNvSpPr>
            <a:spLocks noGrp="1"/>
          </p:cNvSpPr>
          <p:nvPr>
            <p:ph type="ftr" sz="quarter" idx="11"/>
          </p:nvPr>
        </p:nvSpPr>
        <p:spPr>
          <a:xfrm>
            <a:off x="4846320" y="7627620"/>
            <a:ext cx="4937760" cy="438150"/>
          </a:xfrm>
        </p:spPr>
        <p:txBody>
          <a:bodyPr/>
          <a:lstStyle/>
          <a:p>
            <a:endParaRPr lang="en-US"/>
          </a:p>
        </p:txBody>
      </p:sp>
      <p:sp>
        <p:nvSpPr>
          <p:cNvPr id="6" name="Slide Number Placeholder 5"/>
          <p:cNvSpPr>
            <a:spLocks noGrp="1"/>
          </p:cNvSpPr>
          <p:nvPr>
            <p:ph type="sldNum" sz="quarter" idx="12"/>
          </p:nvPr>
        </p:nvSpPr>
        <p:spPr>
          <a:xfrm>
            <a:off x="10332720" y="7627620"/>
            <a:ext cx="3291840" cy="438150"/>
          </a:xfrm>
        </p:spPr>
        <p:txBody>
          <a:bodyPr/>
          <a:lstStyle/>
          <a:p>
            <a:fld id="{339C1125-AEE6-4DB1-A457-E820A5161E9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05840" y="438150"/>
            <a:ext cx="12618720" cy="1590676"/>
          </a:xfrm>
        </p:spPr>
        <p:txBody>
          <a:bodyPr/>
          <a:lstStyle/>
          <a:p>
            <a:r>
              <a:rPr lang="en-US"/>
              <a:t>Click to edit Master title style</a:t>
            </a:r>
            <a:endParaRPr lang="en-US" dirty="0"/>
          </a:p>
        </p:txBody>
      </p:sp>
      <p:sp>
        <p:nvSpPr>
          <p:cNvPr id="3" name="Content Placeholder 2"/>
          <p:cNvSpPr>
            <a:spLocks noGrp="1"/>
          </p:cNvSpPr>
          <p:nvPr>
            <p:ph idx="1"/>
          </p:nvPr>
        </p:nvSpPr>
        <p:spPr>
          <a:xfrm>
            <a:off x="1005840" y="2190750"/>
            <a:ext cx="126187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05840" y="7627620"/>
            <a:ext cx="3291840" cy="438150"/>
          </a:xfrm>
        </p:spPr>
        <p:txBody>
          <a:bodyPr/>
          <a:lstStyle/>
          <a:p>
            <a:fld id="{BE8B2FD5-8364-4FE8-B338-EFF7A1420597}" type="datetimeFigureOut">
              <a:rPr lang="en-US" smtClean="0"/>
              <a:t>8/31/2024</a:t>
            </a:fld>
            <a:endParaRPr lang="en-US"/>
          </a:p>
        </p:txBody>
      </p:sp>
      <p:sp>
        <p:nvSpPr>
          <p:cNvPr id="5" name="Footer Placeholder 4"/>
          <p:cNvSpPr>
            <a:spLocks noGrp="1"/>
          </p:cNvSpPr>
          <p:nvPr>
            <p:ph type="ftr" sz="quarter" idx="11"/>
          </p:nvPr>
        </p:nvSpPr>
        <p:spPr>
          <a:xfrm>
            <a:off x="4846320" y="7627620"/>
            <a:ext cx="4937760" cy="438150"/>
          </a:xfrm>
        </p:spPr>
        <p:txBody>
          <a:bodyPr/>
          <a:lstStyle/>
          <a:p>
            <a:endParaRPr lang="en-US"/>
          </a:p>
        </p:txBody>
      </p:sp>
      <p:sp>
        <p:nvSpPr>
          <p:cNvPr id="6" name="Slide Number Placeholder 5"/>
          <p:cNvSpPr>
            <a:spLocks noGrp="1"/>
          </p:cNvSpPr>
          <p:nvPr>
            <p:ph type="sldNum" sz="quarter" idx="12"/>
          </p:nvPr>
        </p:nvSpPr>
        <p:spPr>
          <a:xfrm>
            <a:off x="10332720" y="7627620"/>
            <a:ext cx="3291840" cy="438150"/>
          </a:xfrm>
        </p:spPr>
        <p:txBody>
          <a:bodyPr/>
          <a:lstStyle/>
          <a:p>
            <a:fld id="{339C1125-AEE6-4DB1-A457-E820A5161E9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42505167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6.png"/><Relationship Id="rId7"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a:endParaRPr lang="en-US" dirty="0"/>
          </a:p>
        </p:txBody>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64037" y="1562814"/>
            <a:ext cx="7415927" cy="2838926"/>
          </a:xfrm>
          <a:prstGeom prst="rect">
            <a:avLst/>
          </a:prstGeom>
          <a:noFill/>
        </p:spPr>
        <p:txBody>
          <a:bodyPr wrap="square" lIns="0" tIns="0" rIns="0" bIns="0" rtlCol="0" anchor="t"/>
          <a:lstStyle/>
          <a:p>
            <a:pPr marL="0" indent="0">
              <a:lnSpc>
                <a:spcPts val="7450"/>
              </a:lnSpc>
              <a:buNone/>
            </a:pPr>
            <a:r>
              <a:rPr lang="en-US" sz="5950" b="1" dirty="0">
                <a:solidFill>
                  <a:srgbClr val="F0FCFF"/>
                </a:solidFill>
                <a:latin typeface="Spline Sans" pitchFamily="34" charset="0"/>
                <a:ea typeface="Spline Sans" pitchFamily="34" charset="-122"/>
                <a:cs typeface="Spline Sans" pitchFamily="34" charset="-120"/>
              </a:rPr>
              <a:t>Flower Shop Management System</a:t>
            </a:r>
            <a:endParaRPr lang="en-US" sz="5950" dirty="0"/>
          </a:p>
        </p:txBody>
      </p:sp>
      <p:sp>
        <p:nvSpPr>
          <p:cNvPr id="6" name="Text 2"/>
          <p:cNvSpPr/>
          <p:nvPr/>
        </p:nvSpPr>
        <p:spPr>
          <a:xfrm>
            <a:off x="864037" y="3488347"/>
            <a:ext cx="7415927" cy="1185148"/>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500000000000000" pitchFamily="34" charset="0"/>
                <a:ea typeface="Barlow" panose="00000500000000000000" pitchFamily="34" charset="-122"/>
                <a:cs typeface="Barlow" panose="00000500000000000000" pitchFamily="34" charset="-120"/>
              </a:rPr>
              <a:t>Welcome! Blooms are nature’s vibrant burst of color, each one a little moment of beauty. Whether in a garden or a bouquet, they brighten up spaces and lift spirits, reminding us of life’s simple joys.</a:t>
            </a:r>
            <a:endParaRPr lang="en-US" sz="1900" dirty="0"/>
          </a:p>
        </p:txBody>
      </p:sp>
      <p:sp>
        <p:nvSpPr>
          <p:cNvPr id="9" name="Text 4"/>
          <p:cNvSpPr/>
          <p:nvPr/>
        </p:nvSpPr>
        <p:spPr>
          <a:xfrm>
            <a:off x="864037" y="4990644"/>
            <a:ext cx="2328038" cy="431959"/>
          </a:xfrm>
          <a:prstGeom prst="rect">
            <a:avLst/>
          </a:prstGeom>
          <a:noFill/>
        </p:spPr>
        <p:txBody>
          <a:bodyPr wrap="none" lIns="0" tIns="0" rIns="0" bIns="0" rtlCol="0" anchor="t"/>
          <a:lstStyle/>
          <a:p>
            <a:pPr marL="0" indent="0" algn="l">
              <a:lnSpc>
                <a:spcPts val="3400"/>
              </a:lnSpc>
              <a:buNone/>
            </a:pPr>
            <a:r>
              <a:rPr lang="en-US" sz="2400" b="1" dirty="0">
                <a:solidFill>
                  <a:srgbClr val="E0E4E6"/>
                </a:solidFill>
                <a:latin typeface="Barlow" panose="00000500000000000000" pitchFamily="34" charset="0"/>
                <a:ea typeface="Barlow" panose="00000500000000000000" pitchFamily="34" charset="-122"/>
                <a:cs typeface="Barlow" panose="00000500000000000000" pitchFamily="34" charset="-120"/>
              </a:rPr>
              <a:t>by Blooms </a:t>
            </a:r>
            <a:r>
              <a:rPr lang="en-US" sz="2400" b="1" dirty="0" err="1">
                <a:solidFill>
                  <a:srgbClr val="E0E4E6"/>
                </a:solidFill>
                <a:latin typeface="Barlow" panose="00000500000000000000" pitchFamily="34" charset="0"/>
                <a:ea typeface="Barlow" panose="00000500000000000000" pitchFamily="34" charset="-122"/>
                <a:cs typeface="Barlow" panose="00000500000000000000" pitchFamily="34" charset="-120"/>
              </a:rPr>
              <a:t>Hase</a:t>
            </a:r>
            <a:r>
              <a:rPr lang="en-US" sz="2400" b="1" dirty="0">
                <a:solidFill>
                  <a:srgbClr val="E0E4E6"/>
                </a:solidFill>
                <a:latin typeface="Barlow" panose="00000500000000000000" pitchFamily="34" charset="0"/>
                <a:ea typeface="Barlow" panose="00000500000000000000" pitchFamily="34" charset="-122"/>
                <a:cs typeface="Barlow" panose="00000500000000000000" pitchFamily="34" charset="-120"/>
              </a:rPr>
              <a:t> </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a:endParaRPr lang="en-US" dirty="0"/>
          </a:p>
        </p:txBody>
      </p:sp>
      <p:sp>
        <p:nvSpPr>
          <p:cNvPr id="8" name="TextBox 7"/>
          <p:cNvSpPr txBox="1"/>
          <p:nvPr/>
        </p:nvSpPr>
        <p:spPr>
          <a:xfrm>
            <a:off x="3871210" y="713869"/>
            <a:ext cx="6887980" cy="6986528"/>
          </a:xfrm>
          <a:prstGeom prst="rect">
            <a:avLst/>
          </a:prstGeom>
          <a:noFill/>
        </p:spPr>
        <p:txBody>
          <a:bodyPr wrap="square" rtlCol="0">
            <a:spAutoFit/>
          </a:bodyPr>
          <a:lstStyle/>
          <a:p>
            <a:pPr algn="ctr"/>
            <a:r>
              <a:rPr lang="en-US" sz="4000" b="1" dirty="0">
                <a:solidFill>
                  <a:schemeClr val="bg1"/>
                </a:solidFill>
                <a:latin typeface="Barlow" panose="00000500000000000000" pitchFamily="34" charset="0"/>
                <a:cs typeface="Times New Roman" panose="02020603050405020304" pitchFamily="18" charset="0"/>
              </a:rPr>
              <a:t>Wayamba University of Sri Lanka </a:t>
            </a:r>
          </a:p>
          <a:p>
            <a:pPr algn="ctr"/>
            <a:r>
              <a:rPr lang="en-US" sz="2400" dirty="0" err="1">
                <a:solidFill>
                  <a:schemeClr val="bg1"/>
                </a:solidFill>
                <a:latin typeface="Barlow" panose="00000500000000000000" pitchFamily="34" charset="0"/>
                <a:cs typeface="Times New Roman" panose="02020603050405020304" pitchFamily="18" charset="0"/>
              </a:rPr>
              <a:t>Kuliyapitiya</a:t>
            </a:r>
            <a:r>
              <a:rPr lang="en-US" sz="2400" dirty="0">
                <a:solidFill>
                  <a:schemeClr val="bg1"/>
                </a:solidFill>
                <a:latin typeface="Barlow" panose="00000500000000000000" pitchFamily="34" charset="0"/>
                <a:cs typeface="Times New Roman" panose="02020603050405020304" pitchFamily="18" charset="0"/>
              </a:rPr>
              <a:t> </a:t>
            </a:r>
          </a:p>
          <a:p>
            <a:pPr algn="ctr"/>
            <a:endParaRPr lang="en-US" sz="2400" dirty="0">
              <a:solidFill>
                <a:schemeClr val="bg1"/>
              </a:solidFill>
              <a:latin typeface="Barlow" panose="00000500000000000000" pitchFamily="34" charset="0"/>
              <a:cs typeface="Times New Roman" panose="02020603050405020304" pitchFamily="18" charset="0"/>
            </a:endParaRPr>
          </a:p>
          <a:p>
            <a:pPr algn="ctr"/>
            <a:r>
              <a:rPr lang="en-US" sz="4000" b="1" dirty="0">
                <a:solidFill>
                  <a:schemeClr val="bg1"/>
                </a:solidFill>
                <a:latin typeface="Barlow" panose="00000500000000000000" pitchFamily="34" charset="0"/>
                <a:cs typeface="Times New Roman" panose="02020603050405020304" pitchFamily="18" charset="0"/>
              </a:rPr>
              <a:t>Higher Diploma in Software </a:t>
            </a:r>
          </a:p>
          <a:p>
            <a:pPr algn="ctr"/>
            <a:r>
              <a:rPr lang="en-US" sz="4000" b="1" dirty="0">
                <a:solidFill>
                  <a:schemeClr val="bg1"/>
                </a:solidFill>
                <a:latin typeface="Barlow" panose="00000500000000000000" pitchFamily="34" charset="0"/>
                <a:cs typeface="Times New Roman" panose="02020603050405020304" pitchFamily="18" charset="0"/>
              </a:rPr>
              <a:t>Engineering  </a:t>
            </a:r>
          </a:p>
          <a:p>
            <a:pPr algn="ctr"/>
            <a:r>
              <a:rPr lang="en-US" sz="4000" b="1" dirty="0">
                <a:solidFill>
                  <a:schemeClr val="bg1"/>
                </a:solidFill>
                <a:latin typeface="Barlow" panose="00000500000000000000" pitchFamily="34" charset="0"/>
                <a:cs typeface="Times New Roman" panose="02020603050405020304" pitchFamily="18" charset="0"/>
              </a:rPr>
              <a:t>2023 </a:t>
            </a:r>
          </a:p>
          <a:p>
            <a:pPr algn="ctr"/>
            <a:endParaRPr lang="en-US" sz="2400" b="1" dirty="0">
              <a:solidFill>
                <a:schemeClr val="bg1"/>
              </a:solidFill>
              <a:latin typeface="Barlow" panose="00000500000000000000" pitchFamily="34" charset="0"/>
              <a:cs typeface="Times New Roman" panose="02020603050405020304" pitchFamily="18" charset="0"/>
            </a:endParaRPr>
          </a:p>
          <a:p>
            <a:pPr algn="ctr"/>
            <a:r>
              <a:rPr lang="en-US" sz="2400" dirty="0">
                <a:solidFill>
                  <a:schemeClr val="bg1"/>
                </a:solidFill>
                <a:latin typeface="Barlow" panose="00000500000000000000" pitchFamily="34" charset="0"/>
                <a:cs typeface="Times New Roman" panose="02020603050405020304" pitchFamily="18" charset="0"/>
              </a:rPr>
              <a:t>Group Project </a:t>
            </a:r>
          </a:p>
          <a:p>
            <a:pPr algn="ctr"/>
            <a:r>
              <a:rPr lang="en-US" sz="4000" b="1" dirty="0">
                <a:solidFill>
                  <a:schemeClr val="bg1"/>
                </a:solidFill>
                <a:latin typeface="Barlow" panose="00000500000000000000" pitchFamily="34" charset="0"/>
                <a:cs typeface="Times New Roman" panose="02020603050405020304" pitchFamily="18" charset="0"/>
              </a:rPr>
              <a:t>Flower Shop Management System</a:t>
            </a:r>
          </a:p>
          <a:p>
            <a:pPr algn="ctr"/>
            <a:endParaRPr lang="en-US" sz="2400" b="1" dirty="0">
              <a:solidFill>
                <a:schemeClr val="bg1"/>
              </a:solidFill>
              <a:latin typeface="Barlow" panose="00000500000000000000" pitchFamily="34" charset="0"/>
              <a:cs typeface="Times New Roman" panose="02020603050405020304" pitchFamily="18" charset="0"/>
            </a:endParaRPr>
          </a:p>
          <a:p>
            <a:pPr algn="ctr"/>
            <a:r>
              <a:rPr lang="en-US" sz="2000" dirty="0">
                <a:solidFill>
                  <a:schemeClr val="bg1"/>
                </a:solidFill>
                <a:latin typeface="Barlow" panose="00000500000000000000" pitchFamily="34" charset="0"/>
                <a:cs typeface="Times New Roman" panose="02020603050405020304" pitchFamily="18" charset="0"/>
              </a:rPr>
              <a:t> </a:t>
            </a:r>
            <a:r>
              <a:rPr lang="en-US" sz="2400" dirty="0">
                <a:solidFill>
                  <a:schemeClr val="bg1"/>
                </a:solidFill>
                <a:latin typeface="Barlow" panose="00000500000000000000" pitchFamily="34" charset="0"/>
                <a:cs typeface="Times New Roman" panose="02020603050405020304" pitchFamily="18" charset="0"/>
              </a:rPr>
              <a:t>Agile Group Project Team: </a:t>
            </a:r>
            <a:r>
              <a:rPr lang="en-US" sz="2400" dirty="0" err="1">
                <a:solidFill>
                  <a:schemeClr val="bg1"/>
                </a:solidFill>
                <a:latin typeface="Barlow" panose="00000500000000000000" pitchFamily="34" charset="0"/>
                <a:cs typeface="Times New Roman" panose="02020603050405020304" pitchFamily="18" charset="0"/>
              </a:rPr>
              <a:t>CodeWave</a:t>
            </a:r>
            <a:r>
              <a:rPr lang="en-US" sz="2400" dirty="0">
                <a:solidFill>
                  <a:schemeClr val="bg1"/>
                </a:solidFill>
                <a:latin typeface="Barlow" panose="00000500000000000000" pitchFamily="34" charset="0"/>
                <a:cs typeface="Times New Roman" panose="02020603050405020304" pitchFamily="18" charset="0"/>
              </a:rPr>
              <a:t> </a:t>
            </a:r>
          </a:p>
          <a:p>
            <a:pPr algn="ctr"/>
            <a:r>
              <a:rPr lang="en-US" sz="2400" dirty="0">
                <a:solidFill>
                  <a:schemeClr val="bg1"/>
                </a:solidFill>
                <a:latin typeface="Barlow" panose="00000500000000000000" pitchFamily="34" charset="0"/>
                <a:cs typeface="Times New Roman" panose="02020603050405020304" pitchFamily="18" charset="0"/>
              </a:rPr>
              <a:t>Submitted to: Dr. VGTN </a:t>
            </a:r>
            <a:r>
              <a:rPr lang="en-US" sz="2400" dirty="0" err="1">
                <a:solidFill>
                  <a:schemeClr val="bg1"/>
                </a:solidFill>
                <a:latin typeface="Barlow" panose="00000500000000000000" pitchFamily="34" charset="0"/>
                <a:cs typeface="Times New Roman" panose="02020603050405020304" pitchFamily="18" charset="0"/>
              </a:rPr>
              <a:t>Vidanagama</a:t>
            </a:r>
            <a:r>
              <a:rPr lang="en-US" sz="2400" dirty="0">
                <a:solidFill>
                  <a:schemeClr val="bg1"/>
                </a:solidFill>
                <a:latin typeface="Barlow" panose="00000500000000000000" pitchFamily="34"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txBody>
          <a:bodyPr/>
          <a:lstStyle/>
          <a:p>
            <a:endParaRPr lang="en-US" dirty="0"/>
          </a:p>
        </p:txBody>
      </p:sp>
      <p:pic>
        <p:nvPicPr>
          <p:cNvPr id="4" name="Image 1"/>
          <p:cNvPicPr>
            <a:picLocks noChangeAspect="1"/>
          </p:cNvPicPr>
          <p:nvPr/>
        </p:nvPicPr>
        <p:blipFill>
          <a:blip r:embed="rId4"/>
          <a:srcRect/>
          <a:stretch>
            <a:fillRect/>
          </a:stretch>
        </p:blipFill>
        <p:spPr>
          <a:xfrm>
            <a:off x="8606118" y="48410"/>
            <a:ext cx="6024282" cy="8181190"/>
          </a:xfrm>
          <a:prstGeom prst="rect">
            <a:avLst/>
          </a:prstGeom>
        </p:spPr>
      </p:pic>
      <p:sp>
        <p:nvSpPr>
          <p:cNvPr id="8" name="Google Shape;61;p14"/>
          <p:cNvSpPr txBox="1"/>
          <p:nvPr/>
        </p:nvSpPr>
        <p:spPr>
          <a:xfrm>
            <a:off x="634999" y="790311"/>
            <a:ext cx="6110575" cy="913841"/>
          </a:xfrm>
          <a:prstGeom prst="rect">
            <a:avLst/>
          </a:prstGeom>
        </p:spPr>
        <p:txBody>
          <a:bodyPr spcFirstLastPara="1" wrap="square" lIns="91425" tIns="91425" rIns="91425" bIns="91425"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US" b="1" dirty="0">
                <a:solidFill>
                  <a:schemeClr val="bg1"/>
                </a:solidFill>
                <a:latin typeface="Sitka Text" panose="02000505000000020004" pitchFamily="2" charset="0"/>
                <a:ea typeface="League Spartan"/>
                <a:cs typeface="League Spartan"/>
                <a:sym typeface="League Spartan"/>
              </a:rPr>
              <a:t>Project Title</a:t>
            </a:r>
          </a:p>
        </p:txBody>
      </p:sp>
      <p:sp>
        <p:nvSpPr>
          <p:cNvPr id="10" name="Google Shape;63;p14"/>
          <p:cNvSpPr txBox="1"/>
          <p:nvPr/>
        </p:nvSpPr>
        <p:spPr>
          <a:xfrm>
            <a:off x="634999" y="1983318"/>
            <a:ext cx="6395388" cy="5597834"/>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Inter" panose="020B0604020202020204"/>
              <a:buChar char="●"/>
            </a:pPr>
            <a:r>
              <a:rPr lang="en-GB" sz="3200" dirty="0">
                <a:solidFill>
                  <a:schemeClr val="bg1"/>
                </a:solidFill>
                <a:latin typeface="Sitka Text" panose="02000505000000020004" pitchFamily="2" charset="0"/>
                <a:ea typeface="Inter" panose="020B0604020202020204"/>
                <a:cs typeface="Inter" panose="020B0604020202020204"/>
                <a:sym typeface="Inter" panose="020B0604020202020204"/>
              </a:rPr>
              <a:t>Project Title: Flower Shop Management System</a:t>
            </a:r>
          </a:p>
          <a:p>
            <a:pPr marL="139700" lvl="0" algn="l" rtl="0">
              <a:spcBef>
                <a:spcPts val="0"/>
              </a:spcBef>
              <a:spcAft>
                <a:spcPts val="0"/>
              </a:spcAft>
              <a:buSzPts val="1400"/>
            </a:pPr>
            <a:endParaRPr sz="3200" dirty="0">
              <a:solidFill>
                <a:schemeClr val="bg1"/>
              </a:solidFill>
              <a:latin typeface="Sitka Text" panose="02000505000000020004" pitchFamily="2" charset="0"/>
              <a:ea typeface="Inter" panose="020B0604020202020204"/>
              <a:cs typeface="Inter" panose="020B0604020202020204"/>
              <a:sym typeface="Inter" panose="020B0604020202020204"/>
            </a:endParaRPr>
          </a:p>
          <a:p>
            <a:pPr marL="457200" lvl="0" indent="-317500" algn="l" rtl="0">
              <a:spcBef>
                <a:spcPts val="0"/>
              </a:spcBef>
              <a:spcAft>
                <a:spcPts val="0"/>
              </a:spcAft>
              <a:buSzPts val="1400"/>
              <a:buFont typeface="Inter" panose="020B0604020202020204"/>
              <a:buChar char="●"/>
            </a:pPr>
            <a:r>
              <a:rPr lang="en-GB" sz="3200" dirty="0">
                <a:solidFill>
                  <a:schemeClr val="bg1"/>
                </a:solidFill>
                <a:latin typeface="Sitka Text" panose="02000505000000020004" pitchFamily="2" charset="0"/>
                <a:ea typeface="Inter" panose="020B0604020202020204"/>
                <a:cs typeface="Inter" panose="020B0604020202020204"/>
                <a:sym typeface="Inter" panose="020B0604020202020204"/>
              </a:rPr>
              <a:t>Group Number: 03</a:t>
            </a:r>
          </a:p>
          <a:p>
            <a:pPr marL="139700" lvl="0" algn="l" rtl="0">
              <a:spcBef>
                <a:spcPts val="0"/>
              </a:spcBef>
              <a:spcAft>
                <a:spcPts val="0"/>
              </a:spcAft>
              <a:buSzPts val="1400"/>
            </a:pPr>
            <a:endParaRPr lang="en-GB" sz="3200" dirty="0">
              <a:solidFill>
                <a:schemeClr val="bg1"/>
              </a:solidFill>
              <a:latin typeface="Sitka Text" panose="02000505000000020004" pitchFamily="2" charset="0"/>
              <a:ea typeface="Inter" panose="020B0604020202020204"/>
              <a:cs typeface="Inter" panose="020B0604020202020204"/>
              <a:sym typeface="Inter" panose="020B0604020202020204"/>
            </a:endParaRPr>
          </a:p>
          <a:p>
            <a:pPr marL="457200" lvl="0" indent="-317500" algn="l" rtl="0">
              <a:spcBef>
                <a:spcPts val="0"/>
              </a:spcBef>
              <a:spcAft>
                <a:spcPts val="0"/>
              </a:spcAft>
              <a:buSzPts val="1400"/>
              <a:buFont typeface="Inter" panose="020B0604020202020204"/>
              <a:buChar char="●"/>
            </a:pPr>
            <a:r>
              <a:rPr lang="en-GB" sz="3200" dirty="0">
                <a:solidFill>
                  <a:schemeClr val="bg1"/>
                </a:solidFill>
                <a:latin typeface="Sitka Text" panose="02000505000000020004" pitchFamily="2" charset="0"/>
                <a:ea typeface="Inter" panose="020B0604020202020204"/>
                <a:cs typeface="Inter" panose="020B0604020202020204"/>
                <a:sym typeface="Inter" panose="020B0604020202020204"/>
              </a:rPr>
              <a:t>Team Members </a:t>
            </a:r>
          </a:p>
          <a:p>
            <a:pPr marL="971550" lvl="1" indent="-514350">
              <a:buFont typeface="+mj-lt"/>
              <a:buAutoNum type="arabicPeriod"/>
            </a:pPr>
            <a:r>
              <a:rPr lang="en-US" sz="3200" b="0" i="0" u="none" strike="noStrike" baseline="0" dirty="0">
                <a:solidFill>
                  <a:schemeClr val="bg1"/>
                </a:solidFill>
                <a:latin typeface="Times New Roman" panose="02020603050405020304" pitchFamily="18" charset="0"/>
              </a:rPr>
              <a:t>CSE23309 H.E Mediwarna</a:t>
            </a:r>
          </a:p>
          <a:p>
            <a:pPr marL="971550" lvl="1" indent="-514350">
              <a:buFont typeface="+mj-lt"/>
              <a:buAutoNum type="arabicPeriod"/>
            </a:pPr>
            <a:r>
              <a:rPr lang="en-US" sz="3200" b="0" i="0" u="none" strike="noStrike" baseline="0" dirty="0">
                <a:solidFill>
                  <a:schemeClr val="bg1"/>
                </a:solidFill>
                <a:latin typeface="Times New Roman" panose="02020603050405020304" pitchFamily="18" charset="0"/>
              </a:rPr>
              <a:t>CSE23333 </a:t>
            </a:r>
            <a:r>
              <a:rPr lang="en-US" sz="3200" b="0" i="0" u="none" strike="noStrike" baseline="0" dirty="0" err="1">
                <a:solidFill>
                  <a:schemeClr val="bg1"/>
                </a:solidFill>
                <a:latin typeface="Times New Roman" panose="02020603050405020304" pitchFamily="18" charset="0"/>
              </a:rPr>
              <a:t>subodha</a:t>
            </a:r>
            <a:endParaRPr lang="en-US" sz="3200" b="0" i="0" u="none" strike="noStrike" baseline="0" dirty="0">
              <a:solidFill>
                <a:schemeClr val="bg1"/>
              </a:solidFill>
              <a:latin typeface="Times New Roman" panose="02020603050405020304" pitchFamily="18" charset="0"/>
            </a:endParaRPr>
          </a:p>
          <a:p>
            <a:pPr marL="971550" lvl="1" indent="-514350">
              <a:buFont typeface="+mj-lt"/>
              <a:buAutoNum type="arabicPeriod"/>
            </a:pPr>
            <a:r>
              <a:rPr lang="en-US" sz="3200" b="0" i="0" u="none" strike="noStrike" baseline="0" dirty="0">
                <a:solidFill>
                  <a:schemeClr val="bg1"/>
                </a:solidFill>
                <a:latin typeface="Times New Roman" panose="02020603050405020304" pitchFamily="18" charset="0"/>
              </a:rPr>
              <a:t>CSE23360 </a:t>
            </a:r>
            <a:r>
              <a:rPr lang="en-US" sz="3200" b="0" i="0" u="none" strike="noStrike" baseline="0" dirty="0" err="1">
                <a:solidFill>
                  <a:schemeClr val="bg1"/>
                </a:solidFill>
                <a:latin typeface="Times New Roman" panose="02020603050405020304" pitchFamily="18" charset="0"/>
              </a:rPr>
              <a:t>chandana</a:t>
            </a:r>
            <a:r>
              <a:rPr lang="en-US" sz="3200" b="0" i="0" u="none" strike="noStrike" baseline="0" dirty="0">
                <a:solidFill>
                  <a:schemeClr val="bg1"/>
                </a:solidFill>
                <a:latin typeface="Times New Roman" panose="02020603050405020304" pitchFamily="18" charset="0"/>
              </a:rPr>
              <a:t>	</a:t>
            </a:r>
          </a:p>
          <a:p>
            <a:pPr marL="457200" lvl="0" indent="-317500" algn="l" rtl="0">
              <a:spcBef>
                <a:spcPts val="0"/>
              </a:spcBef>
              <a:spcAft>
                <a:spcPts val="0"/>
              </a:spcAft>
              <a:buSzPts val="1400"/>
              <a:buFont typeface="Inter" panose="020B0604020202020204"/>
              <a:buChar char="●"/>
            </a:pPr>
            <a:endParaRPr sz="3200" dirty="0">
              <a:solidFill>
                <a:schemeClr val="bg1"/>
              </a:solidFill>
              <a:latin typeface="Sitka Text" panose="02000505000000020004" pitchFamily="2" charset="0"/>
              <a:ea typeface="Inter" panose="020B0604020202020204"/>
              <a:cs typeface="Inter" panose="020B0604020202020204"/>
              <a:sym typeface="Inter"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p:cNvPicPr>
            <a:picLocks noChangeAspect="1"/>
          </p:cNvPicPr>
          <p:nvPr/>
        </p:nvPicPr>
        <p:blipFill>
          <a:blip r:embed="rId4"/>
          <a:stretch>
            <a:fillRect/>
          </a:stretch>
        </p:blipFill>
        <p:spPr>
          <a:xfrm>
            <a:off x="0" y="0"/>
            <a:ext cx="14630400" cy="2761298"/>
          </a:xfrm>
          <a:prstGeom prst="rect">
            <a:avLst/>
          </a:prstGeom>
        </p:spPr>
      </p:pic>
      <p:sp>
        <p:nvSpPr>
          <p:cNvPr id="5" name="Text 1"/>
          <p:cNvSpPr/>
          <p:nvPr/>
        </p:nvSpPr>
        <p:spPr>
          <a:xfrm>
            <a:off x="822841" y="2834231"/>
            <a:ext cx="3010605" cy="613529"/>
          </a:xfrm>
          <a:prstGeom prst="rect">
            <a:avLst/>
          </a:prstGeom>
          <a:noFill/>
        </p:spPr>
        <p:txBody>
          <a:bodyPr wrap="none" lIns="0" tIns="0" rIns="0" bIns="0" rtlCol="0" anchor="t"/>
          <a:lstStyle/>
          <a:p>
            <a:pPr marL="0" indent="0">
              <a:lnSpc>
                <a:spcPts val="4800"/>
              </a:lnSpc>
              <a:buNone/>
            </a:pPr>
            <a:r>
              <a:rPr lang="en-US" sz="3850" b="1" dirty="0">
                <a:solidFill>
                  <a:srgbClr val="F0FCFF"/>
                </a:solidFill>
                <a:latin typeface="Spline Sans" pitchFamily="34" charset="0"/>
                <a:ea typeface="Spline Sans" pitchFamily="34" charset="-122"/>
                <a:cs typeface="Spline Sans" pitchFamily="34" charset="-120"/>
              </a:rPr>
              <a:t>Introduction</a:t>
            </a:r>
            <a:endParaRPr lang="en-US" sz="3850" dirty="0"/>
          </a:p>
        </p:txBody>
      </p:sp>
      <p:sp>
        <p:nvSpPr>
          <p:cNvPr id="7" name="Shape 3"/>
          <p:cNvSpPr/>
          <p:nvPr/>
        </p:nvSpPr>
        <p:spPr>
          <a:xfrm>
            <a:off x="822841" y="5380806"/>
            <a:ext cx="4180999" cy="2514691"/>
          </a:xfrm>
          <a:prstGeom prst="roundRect">
            <a:avLst>
              <a:gd name="adj" fmla="val 16677"/>
            </a:avLst>
          </a:prstGeom>
          <a:solidFill>
            <a:srgbClr val="0A081B"/>
          </a:solidFill>
          <a:ln w="22860">
            <a:solidFill>
              <a:srgbClr val="16FFBB"/>
            </a:solidFill>
            <a:prstDash val="solid"/>
          </a:ln>
        </p:spPr>
        <p:txBody>
          <a:bodyPr/>
          <a:lstStyle/>
          <a:p>
            <a:endParaRPr lang="en-US" dirty="0"/>
          </a:p>
        </p:txBody>
      </p:sp>
      <p:sp>
        <p:nvSpPr>
          <p:cNvPr id="8" name="Text 4"/>
          <p:cNvSpPr/>
          <p:nvPr/>
        </p:nvSpPr>
        <p:spPr>
          <a:xfrm>
            <a:off x="1066562" y="5624527"/>
            <a:ext cx="2454473" cy="306824"/>
          </a:xfrm>
          <a:prstGeom prst="rect">
            <a:avLst/>
          </a:prstGeom>
          <a:noFill/>
        </p:spPr>
        <p:txBody>
          <a:bodyPr wrap="none" lIns="0" tIns="0" rIns="0" bIns="0" rtlCol="0" anchor="t"/>
          <a:lstStyle/>
          <a:p>
            <a:pPr marL="0" indent="0">
              <a:lnSpc>
                <a:spcPts val="2400"/>
              </a:lnSpc>
              <a:buNone/>
            </a:pPr>
            <a:r>
              <a:rPr lang="en-US" sz="1900" b="1">
                <a:solidFill>
                  <a:srgbClr val="E0E4E6"/>
                </a:solidFill>
                <a:latin typeface="Spline Sans" pitchFamily="34" charset="0"/>
                <a:ea typeface="Spline Sans" pitchFamily="34" charset="-122"/>
                <a:cs typeface="Spline Sans" pitchFamily="34" charset="-120"/>
              </a:rPr>
              <a:t>Problem</a:t>
            </a:r>
            <a:endParaRPr lang="en-US" sz="1900" dirty="0"/>
          </a:p>
        </p:txBody>
      </p:sp>
      <p:sp>
        <p:nvSpPr>
          <p:cNvPr id="9" name="Text 5"/>
          <p:cNvSpPr/>
          <p:nvPr/>
        </p:nvSpPr>
        <p:spPr>
          <a:xfrm>
            <a:off x="1066562" y="6063869"/>
            <a:ext cx="3693557" cy="1303852"/>
          </a:xfrm>
          <a:prstGeom prst="rect">
            <a:avLst/>
          </a:prstGeom>
          <a:noFill/>
        </p:spPr>
        <p:txBody>
          <a:bodyPr wrap="square" lIns="0" tIns="0" rIns="0" bIns="0" rtlCol="0" anchor="t"/>
          <a:lstStyle/>
          <a:p>
            <a:pPr marL="0" indent="0" algn="just">
              <a:lnSpc>
                <a:spcPts val="2750"/>
              </a:lnSpc>
              <a:buNone/>
            </a:pPr>
            <a:r>
              <a:rPr lang="en-US" sz="1700" dirty="0">
                <a:solidFill>
                  <a:srgbClr val="E0E4E6"/>
                </a:solidFill>
                <a:latin typeface="Barlow" panose="00000500000000000000" pitchFamily="34" charset="0"/>
                <a:ea typeface="Barlow" panose="00000500000000000000" pitchFamily="34" charset="-122"/>
                <a:cs typeface="Barlow" panose="00000500000000000000" pitchFamily="34" charset="-120"/>
              </a:rPr>
              <a:t>Managing a flower shop can be challenging. Keeping track of inventory, processing orders, and handling customer information can be messy and time-consuming.</a:t>
            </a:r>
            <a:endParaRPr lang="en-US" sz="1700" dirty="0"/>
          </a:p>
        </p:txBody>
      </p:sp>
      <p:sp>
        <p:nvSpPr>
          <p:cNvPr id="17" name="TextBox 16"/>
          <p:cNvSpPr txBox="1"/>
          <p:nvPr/>
        </p:nvSpPr>
        <p:spPr>
          <a:xfrm>
            <a:off x="822841" y="3525785"/>
            <a:ext cx="13335238" cy="1569660"/>
          </a:xfrm>
          <a:prstGeom prst="rect">
            <a:avLst/>
          </a:prstGeom>
          <a:noFill/>
        </p:spPr>
        <p:txBody>
          <a:bodyPr wrap="square" rtlCol="0">
            <a:spAutoFit/>
          </a:bodyPr>
          <a:lstStyle/>
          <a:p>
            <a:pPr algn="just"/>
            <a:r>
              <a:rPr lang="en-US" sz="3200" dirty="0">
                <a:solidFill>
                  <a:schemeClr val="bg1"/>
                </a:solidFill>
              </a:rPr>
              <a:t>Welcome to our presentation on the Flower Shop Management System. Our team has developed this system to make running a flower shop easier and more efficient.</a:t>
            </a:r>
          </a:p>
        </p:txBody>
      </p:sp>
      <p:sp>
        <p:nvSpPr>
          <p:cNvPr id="18" name="Shape 3"/>
          <p:cNvSpPr/>
          <p:nvPr/>
        </p:nvSpPr>
        <p:spPr>
          <a:xfrm>
            <a:off x="9626560" y="5380806"/>
            <a:ext cx="4180999" cy="2514691"/>
          </a:xfrm>
          <a:prstGeom prst="roundRect">
            <a:avLst>
              <a:gd name="adj" fmla="val 16677"/>
            </a:avLst>
          </a:prstGeom>
          <a:solidFill>
            <a:srgbClr val="0A081B"/>
          </a:solidFill>
          <a:ln w="22860">
            <a:solidFill>
              <a:srgbClr val="16FFBB"/>
            </a:solidFill>
            <a:prstDash val="solid"/>
          </a:ln>
        </p:spPr>
        <p:txBody>
          <a:bodyPr/>
          <a:lstStyle/>
          <a:p>
            <a:endParaRPr lang="en-US" dirty="0"/>
          </a:p>
        </p:txBody>
      </p:sp>
      <p:sp>
        <p:nvSpPr>
          <p:cNvPr id="19" name="Text 4"/>
          <p:cNvSpPr/>
          <p:nvPr/>
        </p:nvSpPr>
        <p:spPr>
          <a:xfrm>
            <a:off x="9870281" y="5624527"/>
            <a:ext cx="2454473" cy="306824"/>
          </a:xfrm>
          <a:prstGeom prst="rect">
            <a:avLst/>
          </a:prstGeom>
          <a:noFill/>
        </p:spPr>
        <p:txBody>
          <a:bodyPr wrap="none" lIns="0" tIns="0" rIns="0" bIns="0" rtlCol="0" anchor="t"/>
          <a:lstStyle/>
          <a:p>
            <a:pPr marL="0" indent="0">
              <a:lnSpc>
                <a:spcPts val="2400"/>
              </a:lnSpc>
              <a:buNone/>
            </a:pPr>
            <a:r>
              <a:rPr lang="en-US" sz="1900" b="1" dirty="0">
                <a:solidFill>
                  <a:srgbClr val="E0E4E6"/>
                </a:solidFill>
                <a:latin typeface="Spline Sans" pitchFamily="34" charset="0"/>
                <a:ea typeface="Spline Sans" pitchFamily="34" charset="-122"/>
                <a:cs typeface="Spline Sans" pitchFamily="34" charset="-120"/>
              </a:rPr>
              <a:t>Solution</a:t>
            </a:r>
            <a:endParaRPr lang="en-US" sz="1900" dirty="0"/>
          </a:p>
        </p:txBody>
      </p:sp>
      <p:sp>
        <p:nvSpPr>
          <p:cNvPr id="20" name="Text 5"/>
          <p:cNvSpPr/>
          <p:nvPr/>
        </p:nvSpPr>
        <p:spPr>
          <a:xfrm>
            <a:off x="9782356" y="6063869"/>
            <a:ext cx="3937278" cy="1303852"/>
          </a:xfrm>
          <a:prstGeom prst="rect">
            <a:avLst/>
          </a:prstGeom>
          <a:noFill/>
        </p:spPr>
        <p:txBody>
          <a:bodyPr wrap="square" lIns="0" tIns="0" rIns="0" bIns="0" rtlCol="0" anchor="t"/>
          <a:lstStyle/>
          <a:p>
            <a:pPr marL="0" indent="0" algn="just">
              <a:lnSpc>
                <a:spcPts val="2750"/>
              </a:lnSpc>
              <a:buNone/>
            </a:pPr>
            <a:r>
              <a:rPr lang="en-US" sz="1700" dirty="0">
                <a:solidFill>
                  <a:srgbClr val="E0E4E6"/>
                </a:solidFill>
                <a:latin typeface="Barlow" panose="00000500000000000000" pitchFamily="34" charset="0"/>
                <a:ea typeface="Barlow" panose="00000500000000000000" pitchFamily="34" charset="-122"/>
                <a:cs typeface="Barlow" panose="00000500000000000000" pitchFamily="34" charset="-120"/>
              </a:rPr>
              <a:t>Our system helps solve these problems by automating many tasks. It keeps track of what flowers are in stock, processes customer orders, and manages customer data—all in one place.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sp>
        <p:nvSpPr>
          <p:cNvPr id="4" name="Text 1"/>
          <p:cNvSpPr/>
          <p:nvPr/>
        </p:nvSpPr>
        <p:spPr>
          <a:xfrm>
            <a:off x="864037" y="752118"/>
            <a:ext cx="6046113" cy="685800"/>
          </a:xfrm>
          <a:prstGeom prst="rect">
            <a:avLst/>
          </a:prstGeom>
          <a:noFill/>
        </p:spPr>
        <p:txBody>
          <a:bodyPr wrap="none" lIns="0" tIns="0" rIns="0" bIns="0" rtlCol="0" anchor="t"/>
          <a:lstStyle/>
          <a:p>
            <a:pPr marL="0" indent="0">
              <a:lnSpc>
                <a:spcPts val="5400"/>
              </a:lnSpc>
              <a:buNone/>
            </a:pPr>
            <a:r>
              <a:rPr lang="en-US" sz="4300" b="1" dirty="0">
                <a:solidFill>
                  <a:srgbClr val="F0FCFF"/>
                </a:solidFill>
                <a:latin typeface="Spline Sans" pitchFamily="34" charset="0"/>
                <a:ea typeface="Spline Sans" pitchFamily="34" charset="-122"/>
                <a:cs typeface="Spline Sans" pitchFamily="34" charset="-120"/>
              </a:rPr>
              <a:t>Objectives</a:t>
            </a:r>
            <a:endParaRPr lang="en-US" sz="4300" dirty="0"/>
          </a:p>
        </p:txBody>
      </p:sp>
      <p:sp>
        <p:nvSpPr>
          <p:cNvPr id="22" name="TextBox 21"/>
          <p:cNvSpPr txBox="1"/>
          <p:nvPr/>
        </p:nvSpPr>
        <p:spPr>
          <a:xfrm>
            <a:off x="864037" y="1881554"/>
            <a:ext cx="14433759" cy="984885"/>
          </a:xfrm>
          <a:prstGeom prst="rect">
            <a:avLst/>
          </a:prstGeom>
          <a:noFill/>
        </p:spPr>
        <p:txBody>
          <a:bodyPr wrap="square" rtlCol="0">
            <a:spAutoFit/>
          </a:bodyPr>
          <a:lstStyle/>
          <a:p>
            <a:r>
              <a:rPr lang="en-US" sz="3600" dirty="0">
                <a:solidFill>
                  <a:schemeClr val="bg1"/>
                </a:solidFill>
                <a:latin typeface="Barlow" panose="00000500000000000000" pitchFamily="34" charset="0"/>
              </a:rPr>
              <a:t>Make Flower Shops More Efficient</a:t>
            </a:r>
          </a:p>
          <a:p>
            <a:r>
              <a:rPr lang="en-US" sz="2200" dirty="0">
                <a:solidFill>
                  <a:schemeClr val="bg1"/>
                </a:solidFill>
                <a:latin typeface="Barlow" panose="00000500000000000000" pitchFamily="34" charset="0"/>
              </a:rPr>
              <a:t>Our system helps flower shops manage their products and orders easily, saving time and reducing mistakes.</a:t>
            </a:r>
          </a:p>
        </p:txBody>
      </p:sp>
      <p:sp>
        <p:nvSpPr>
          <p:cNvPr id="23" name="TextBox 22"/>
          <p:cNvSpPr txBox="1"/>
          <p:nvPr/>
        </p:nvSpPr>
        <p:spPr>
          <a:xfrm>
            <a:off x="864036" y="3129915"/>
            <a:ext cx="14433759" cy="984885"/>
          </a:xfrm>
          <a:prstGeom prst="rect">
            <a:avLst/>
          </a:prstGeom>
          <a:noFill/>
        </p:spPr>
        <p:txBody>
          <a:bodyPr wrap="square" rtlCol="0">
            <a:spAutoFit/>
          </a:bodyPr>
          <a:lstStyle/>
          <a:p>
            <a:r>
              <a:rPr lang="en-US" sz="3600" dirty="0">
                <a:solidFill>
                  <a:schemeClr val="bg1"/>
                </a:solidFill>
                <a:latin typeface="Barlow" panose="00000500000000000000" pitchFamily="34" charset="0"/>
              </a:rPr>
              <a:t>Improve Customer Experience</a:t>
            </a:r>
          </a:p>
          <a:p>
            <a:r>
              <a:rPr lang="en-US" sz="2200" dirty="0">
                <a:solidFill>
                  <a:schemeClr val="bg1"/>
                </a:solidFill>
                <a:latin typeface="Barlow" panose="00000500000000000000" pitchFamily="34" charset="0"/>
              </a:rPr>
              <a:t>We want customers to have a smooth and pleasant shopping experience when buying flowers online.</a:t>
            </a:r>
          </a:p>
        </p:txBody>
      </p:sp>
      <p:sp>
        <p:nvSpPr>
          <p:cNvPr id="8" name="TextBox 7"/>
          <p:cNvSpPr txBox="1"/>
          <p:nvPr/>
        </p:nvSpPr>
        <p:spPr>
          <a:xfrm>
            <a:off x="864032" y="4378276"/>
            <a:ext cx="14433759" cy="984885"/>
          </a:xfrm>
          <a:prstGeom prst="rect">
            <a:avLst/>
          </a:prstGeom>
          <a:noFill/>
        </p:spPr>
        <p:txBody>
          <a:bodyPr wrap="square" rtlCol="0">
            <a:spAutoFit/>
          </a:bodyPr>
          <a:lstStyle/>
          <a:p>
            <a:r>
              <a:rPr lang="en-US" sz="3600" dirty="0">
                <a:solidFill>
                  <a:schemeClr val="bg1"/>
                </a:solidFill>
                <a:latin typeface="Barlow" panose="00000500000000000000" pitchFamily="34" charset="0"/>
              </a:rPr>
              <a:t>Simplify Shop Management</a:t>
            </a:r>
          </a:p>
          <a:p>
            <a:r>
              <a:rPr lang="en-US" sz="2200" dirty="0">
                <a:solidFill>
                  <a:schemeClr val="bg1"/>
                </a:solidFill>
                <a:latin typeface="Barlow" panose="00000500000000000000" pitchFamily="34" charset="0"/>
              </a:rPr>
              <a:t>The system makes it easy for shop owners to keep track of their inventory, orders, and customers all in one place.</a:t>
            </a:r>
          </a:p>
        </p:txBody>
      </p:sp>
      <p:sp>
        <p:nvSpPr>
          <p:cNvPr id="9" name="TextBox 8"/>
          <p:cNvSpPr txBox="1"/>
          <p:nvPr/>
        </p:nvSpPr>
        <p:spPr>
          <a:xfrm>
            <a:off x="864031" y="5626637"/>
            <a:ext cx="14433759" cy="984885"/>
          </a:xfrm>
          <a:prstGeom prst="rect">
            <a:avLst/>
          </a:prstGeom>
          <a:noFill/>
        </p:spPr>
        <p:txBody>
          <a:bodyPr wrap="square" rtlCol="0">
            <a:spAutoFit/>
          </a:bodyPr>
          <a:lstStyle/>
          <a:p>
            <a:r>
              <a:rPr lang="en-US" sz="3600" dirty="0">
                <a:solidFill>
                  <a:schemeClr val="bg1"/>
                </a:solidFill>
                <a:latin typeface="Barlow" panose="00000500000000000000" pitchFamily="34" charset="0"/>
              </a:rPr>
              <a:t>Support Business Growth</a:t>
            </a:r>
          </a:p>
          <a:p>
            <a:r>
              <a:rPr lang="en-US" sz="2200" dirty="0">
                <a:solidFill>
                  <a:schemeClr val="bg1"/>
                </a:solidFill>
                <a:latin typeface="Barlow" panose="00000500000000000000" pitchFamily="34" charset="0"/>
              </a:rPr>
              <a:t>By streamlining operations, the system helps flower shops grow and serve more customers.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sp>
        <p:nvSpPr>
          <p:cNvPr id="5" name="Text 1"/>
          <p:cNvSpPr/>
          <p:nvPr/>
        </p:nvSpPr>
        <p:spPr>
          <a:xfrm>
            <a:off x="1056203" y="955840"/>
            <a:ext cx="5860971" cy="591503"/>
          </a:xfrm>
          <a:prstGeom prst="rect">
            <a:avLst/>
          </a:prstGeom>
          <a:noFill/>
        </p:spPr>
        <p:txBody>
          <a:bodyPr wrap="none" lIns="0" tIns="0" rIns="0" bIns="0" rtlCol="0" anchor="t"/>
          <a:lstStyle/>
          <a:p>
            <a:pPr marL="0" indent="0">
              <a:lnSpc>
                <a:spcPts val="4650"/>
              </a:lnSpc>
              <a:buNone/>
            </a:pPr>
            <a:r>
              <a:rPr lang="en-US" sz="4300" b="1" dirty="0">
                <a:solidFill>
                  <a:srgbClr val="F0FCFF"/>
                </a:solidFill>
                <a:latin typeface="Spline Sans" pitchFamily="34" charset="0"/>
                <a:ea typeface="Spline Sans" pitchFamily="34" charset="-122"/>
                <a:cs typeface="Spline Sans" pitchFamily="34" charset="-120"/>
              </a:rPr>
              <a:t>Key</a:t>
            </a:r>
            <a:r>
              <a:rPr lang="en-US" sz="4000" b="1" dirty="0">
                <a:solidFill>
                  <a:srgbClr val="F0FCFF"/>
                </a:solidFill>
                <a:latin typeface="Spline Sans" pitchFamily="34" charset="0"/>
                <a:ea typeface="Spline Sans" pitchFamily="34" charset="-122"/>
                <a:cs typeface="Spline Sans" pitchFamily="34" charset="-120"/>
              </a:rPr>
              <a:t> features of the system</a:t>
            </a:r>
            <a:endParaRPr lang="en-US" sz="4000" dirty="0"/>
          </a:p>
        </p:txBody>
      </p:sp>
      <p:sp>
        <p:nvSpPr>
          <p:cNvPr id="7" name="Shape 3"/>
          <p:cNvSpPr/>
          <p:nvPr/>
        </p:nvSpPr>
        <p:spPr>
          <a:xfrm>
            <a:off x="1056203" y="2029374"/>
            <a:ext cx="479108" cy="479108"/>
          </a:xfrm>
          <a:prstGeom prst="roundRect">
            <a:avLst>
              <a:gd name="adj" fmla="val 66677"/>
            </a:avLst>
          </a:prstGeom>
          <a:solidFill>
            <a:srgbClr val="0A081B"/>
          </a:solidFill>
          <a:ln w="22860">
            <a:solidFill>
              <a:srgbClr val="16FFBB"/>
            </a:solidFill>
            <a:prstDash val="solid"/>
          </a:ln>
        </p:spPr>
      </p:sp>
      <p:sp>
        <p:nvSpPr>
          <p:cNvPr id="8" name="Text 4"/>
          <p:cNvSpPr/>
          <p:nvPr/>
        </p:nvSpPr>
        <p:spPr>
          <a:xfrm>
            <a:off x="1234321" y="2126886"/>
            <a:ext cx="122873" cy="283964"/>
          </a:xfrm>
          <a:prstGeom prst="rect">
            <a:avLst/>
          </a:prstGeom>
          <a:noFill/>
        </p:spPr>
        <p:txBody>
          <a:bodyPr wrap="none" lIns="0" tIns="0" rIns="0" bIns="0" rtlCol="0" anchor="t"/>
          <a:lstStyle/>
          <a:p>
            <a:pPr marL="0" indent="0" algn="ctr">
              <a:lnSpc>
                <a:spcPts val="2200"/>
              </a:lnSpc>
              <a:buNone/>
            </a:pPr>
            <a:r>
              <a:rPr lang="en-US" sz="2200" b="1" dirty="0">
                <a:solidFill>
                  <a:srgbClr val="E0E4E6"/>
                </a:solidFill>
                <a:latin typeface="Barlow" panose="00000500000000000000" pitchFamily="2" charset="0"/>
                <a:ea typeface="Spline Sans" pitchFamily="34" charset="-122"/>
                <a:cs typeface="Spline Sans" pitchFamily="34" charset="-120"/>
              </a:rPr>
              <a:t>1</a:t>
            </a:r>
            <a:endParaRPr lang="en-US" sz="2200" dirty="0">
              <a:latin typeface="Barlow" panose="00000500000000000000" pitchFamily="2" charset="0"/>
            </a:endParaRPr>
          </a:p>
        </p:txBody>
      </p:sp>
      <p:sp>
        <p:nvSpPr>
          <p:cNvPr id="11" name="Shape 7"/>
          <p:cNvSpPr/>
          <p:nvPr/>
        </p:nvSpPr>
        <p:spPr>
          <a:xfrm>
            <a:off x="7421642" y="2029374"/>
            <a:ext cx="479108" cy="479108"/>
          </a:xfrm>
          <a:prstGeom prst="roundRect">
            <a:avLst>
              <a:gd name="adj" fmla="val 66677"/>
            </a:avLst>
          </a:prstGeom>
          <a:solidFill>
            <a:srgbClr val="0A081B"/>
          </a:solidFill>
          <a:ln w="22860">
            <a:solidFill>
              <a:srgbClr val="29DDDA"/>
            </a:solidFill>
            <a:prstDash val="solid"/>
          </a:ln>
        </p:spPr>
      </p:sp>
      <p:sp>
        <p:nvSpPr>
          <p:cNvPr id="12" name="Text 8"/>
          <p:cNvSpPr/>
          <p:nvPr/>
        </p:nvSpPr>
        <p:spPr>
          <a:xfrm>
            <a:off x="7582257" y="2126886"/>
            <a:ext cx="157877" cy="283964"/>
          </a:xfrm>
          <a:prstGeom prst="rect">
            <a:avLst/>
          </a:prstGeom>
          <a:noFill/>
        </p:spPr>
        <p:txBody>
          <a:bodyPr wrap="none" lIns="0" tIns="0" rIns="0" bIns="0" rtlCol="0" anchor="t"/>
          <a:lstStyle/>
          <a:p>
            <a:pPr marL="0" indent="0" algn="ctr">
              <a:lnSpc>
                <a:spcPts val="2200"/>
              </a:lnSpc>
              <a:buNone/>
            </a:pPr>
            <a:r>
              <a:rPr lang="en-US" sz="2200" b="1" dirty="0">
                <a:solidFill>
                  <a:srgbClr val="E0E4E6"/>
                </a:solidFill>
                <a:latin typeface="Barlow" panose="00000500000000000000" pitchFamily="2" charset="0"/>
                <a:ea typeface="Spline Sans" pitchFamily="34" charset="-122"/>
                <a:cs typeface="Spline Sans" pitchFamily="34" charset="-120"/>
              </a:rPr>
              <a:t>2</a:t>
            </a:r>
            <a:endParaRPr lang="en-US" sz="2200" dirty="0">
              <a:latin typeface="Barlow" panose="00000500000000000000" pitchFamily="2" charset="0"/>
            </a:endParaRPr>
          </a:p>
        </p:txBody>
      </p:sp>
      <p:sp>
        <p:nvSpPr>
          <p:cNvPr id="15" name="Shape 11"/>
          <p:cNvSpPr/>
          <p:nvPr/>
        </p:nvSpPr>
        <p:spPr>
          <a:xfrm>
            <a:off x="1056203" y="3815311"/>
            <a:ext cx="479108" cy="479108"/>
          </a:xfrm>
          <a:prstGeom prst="roundRect">
            <a:avLst>
              <a:gd name="adj" fmla="val 66677"/>
            </a:avLst>
          </a:prstGeom>
          <a:solidFill>
            <a:srgbClr val="0A081B"/>
          </a:solidFill>
          <a:ln w="22860">
            <a:solidFill>
              <a:srgbClr val="37A7E7"/>
            </a:solidFill>
            <a:prstDash val="solid"/>
          </a:ln>
        </p:spPr>
      </p:sp>
      <p:sp>
        <p:nvSpPr>
          <p:cNvPr id="16" name="Text 12"/>
          <p:cNvSpPr/>
          <p:nvPr/>
        </p:nvSpPr>
        <p:spPr>
          <a:xfrm>
            <a:off x="1212652" y="3912823"/>
            <a:ext cx="166211" cy="283964"/>
          </a:xfrm>
          <a:prstGeom prst="rect">
            <a:avLst/>
          </a:prstGeom>
          <a:noFill/>
        </p:spPr>
        <p:txBody>
          <a:bodyPr wrap="none" lIns="0" tIns="0" rIns="0" bIns="0" rtlCol="0" anchor="t"/>
          <a:lstStyle/>
          <a:p>
            <a:pPr marL="0" indent="0" algn="ctr">
              <a:lnSpc>
                <a:spcPts val="2200"/>
              </a:lnSpc>
              <a:buNone/>
            </a:pPr>
            <a:r>
              <a:rPr lang="en-US" sz="2200" b="1" dirty="0">
                <a:solidFill>
                  <a:srgbClr val="E0E4E6"/>
                </a:solidFill>
                <a:latin typeface="Barlow" panose="00000500000000000000" pitchFamily="2" charset="0"/>
                <a:ea typeface="Spline Sans" pitchFamily="34" charset="-122"/>
                <a:cs typeface="Spline Sans" pitchFamily="34" charset="-120"/>
              </a:rPr>
              <a:t>3</a:t>
            </a:r>
            <a:endParaRPr lang="en-US" sz="2200" dirty="0">
              <a:latin typeface="Barlow" panose="00000500000000000000" pitchFamily="2" charset="0"/>
            </a:endParaRPr>
          </a:p>
        </p:txBody>
      </p:sp>
      <p:sp>
        <p:nvSpPr>
          <p:cNvPr id="4" name="TextBox 3">
            <a:extLst>
              <a:ext uri="{FF2B5EF4-FFF2-40B4-BE49-F238E27FC236}">
                <a16:creationId xmlns:a16="http://schemas.microsoft.com/office/drawing/2014/main" id="{995D367C-370C-43EF-8AD3-5F4D0DF96BC7}"/>
              </a:ext>
            </a:extLst>
          </p:cNvPr>
          <p:cNvSpPr txBox="1"/>
          <p:nvPr/>
        </p:nvSpPr>
        <p:spPr>
          <a:xfrm>
            <a:off x="1793631" y="2041518"/>
            <a:ext cx="4823411"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User Registration and Login</a:t>
            </a:r>
          </a:p>
        </p:txBody>
      </p:sp>
      <p:sp>
        <p:nvSpPr>
          <p:cNvPr id="13" name="TextBox 12">
            <a:extLst>
              <a:ext uri="{FF2B5EF4-FFF2-40B4-BE49-F238E27FC236}">
                <a16:creationId xmlns:a16="http://schemas.microsoft.com/office/drawing/2014/main" id="{E201F448-0C7E-469C-A4CD-2D556D47C94A}"/>
              </a:ext>
            </a:extLst>
          </p:cNvPr>
          <p:cNvSpPr txBox="1"/>
          <p:nvPr/>
        </p:nvSpPr>
        <p:spPr>
          <a:xfrm>
            <a:off x="1793631" y="2424651"/>
            <a:ext cx="4509892" cy="1200329"/>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Users can create an account by registering with their details, like name, email, and password. Once registered, they can log in to access their account.</a:t>
            </a:r>
          </a:p>
        </p:txBody>
      </p:sp>
      <p:sp>
        <p:nvSpPr>
          <p:cNvPr id="14" name="TextBox 13">
            <a:extLst>
              <a:ext uri="{FF2B5EF4-FFF2-40B4-BE49-F238E27FC236}">
                <a16:creationId xmlns:a16="http://schemas.microsoft.com/office/drawing/2014/main" id="{8409196E-C259-46D2-A1F6-CE911BB5CB04}"/>
              </a:ext>
            </a:extLst>
          </p:cNvPr>
          <p:cNvSpPr txBox="1"/>
          <p:nvPr/>
        </p:nvSpPr>
        <p:spPr>
          <a:xfrm>
            <a:off x="8097154" y="2041518"/>
            <a:ext cx="1361042"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Design</a:t>
            </a:r>
          </a:p>
        </p:txBody>
      </p:sp>
      <p:sp>
        <p:nvSpPr>
          <p:cNvPr id="17" name="TextBox 16">
            <a:extLst>
              <a:ext uri="{FF2B5EF4-FFF2-40B4-BE49-F238E27FC236}">
                <a16:creationId xmlns:a16="http://schemas.microsoft.com/office/drawing/2014/main" id="{EAA4297B-44BF-434A-B75F-460F51C2CFE5}"/>
              </a:ext>
            </a:extLst>
          </p:cNvPr>
          <p:cNvSpPr txBox="1"/>
          <p:nvPr/>
        </p:nvSpPr>
        <p:spPr>
          <a:xfrm>
            <a:off x="8097154" y="2424651"/>
            <a:ext cx="4509892" cy="1200329"/>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The website is designed to look good on different devices, such as smartphones, tablets, and desktops. The layout adjusts automatically to fit the screen size.</a:t>
            </a:r>
          </a:p>
        </p:txBody>
      </p:sp>
      <p:sp>
        <p:nvSpPr>
          <p:cNvPr id="18" name="TextBox 17">
            <a:extLst>
              <a:ext uri="{FF2B5EF4-FFF2-40B4-BE49-F238E27FC236}">
                <a16:creationId xmlns:a16="http://schemas.microsoft.com/office/drawing/2014/main" id="{78D4ADCF-7057-4EFF-8ACF-14C47A6B820C}"/>
              </a:ext>
            </a:extLst>
          </p:cNvPr>
          <p:cNvSpPr txBox="1"/>
          <p:nvPr/>
        </p:nvSpPr>
        <p:spPr>
          <a:xfrm>
            <a:off x="1793631" y="3867799"/>
            <a:ext cx="4757670"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Product Listings and Offers</a:t>
            </a:r>
          </a:p>
        </p:txBody>
      </p:sp>
      <p:sp>
        <p:nvSpPr>
          <p:cNvPr id="19" name="TextBox 18">
            <a:extLst>
              <a:ext uri="{FF2B5EF4-FFF2-40B4-BE49-F238E27FC236}">
                <a16:creationId xmlns:a16="http://schemas.microsoft.com/office/drawing/2014/main" id="{01283735-44F3-4291-A519-2FE48BBA13D3}"/>
              </a:ext>
            </a:extLst>
          </p:cNvPr>
          <p:cNvSpPr txBox="1"/>
          <p:nvPr/>
        </p:nvSpPr>
        <p:spPr>
          <a:xfrm>
            <a:off x="1793631" y="4250932"/>
            <a:ext cx="4509892" cy="1477328"/>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The system can display various products (like flowers) along with special offers. These are presented in visually appealing sections, making it easy for customers to browse.</a:t>
            </a:r>
          </a:p>
        </p:txBody>
      </p:sp>
      <p:sp>
        <p:nvSpPr>
          <p:cNvPr id="25" name="Shape 11">
            <a:extLst>
              <a:ext uri="{FF2B5EF4-FFF2-40B4-BE49-F238E27FC236}">
                <a16:creationId xmlns:a16="http://schemas.microsoft.com/office/drawing/2014/main" id="{3953CEC6-C703-4686-9A10-20288CD335BD}"/>
              </a:ext>
            </a:extLst>
          </p:cNvPr>
          <p:cNvSpPr/>
          <p:nvPr/>
        </p:nvSpPr>
        <p:spPr>
          <a:xfrm>
            <a:off x="7427363" y="3861930"/>
            <a:ext cx="479108" cy="479108"/>
          </a:xfrm>
          <a:prstGeom prst="roundRect">
            <a:avLst>
              <a:gd name="adj" fmla="val 66677"/>
            </a:avLst>
          </a:prstGeom>
          <a:solidFill>
            <a:srgbClr val="0A081B"/>
          </a:solidFill>
          <a:ln w="22860">
            <a:solidFill>
              <a:srgbClr val="37A7E7"/>
            </a:solidFill>
            <a:prstDash val="solid"/>
          </a:ln>
        </p:spPr>
      </p:sp>
      <p:sp>
        <p:nvSpPr>
          <p:cNvPr id="26" name="Text 12">
            <a:extLst>
              <a:ext uri="{FF2B5EF4-FFF2-40B4-BE49-F238E27FC236}">
                <a16:creationId xmlns:a16="http://schemas.microsoft.com/office/drawing/2014/main" id="{68C6087B-098E-4EF1-B7D9-35E598335B12}"/>
              </a:ext>
            </a:extLst>
          </p:cNvPr>
          <p:cNvSpPr/>
          <p:nvPr/>
        </p:nvSpPr>
        <p:spPr>
          <a:xfrm>
            <a:off x="7583812" y="3959442"/>
            <a:ext cx="166211" cy="283964"/>
          </a:xfrm>
          <a:prstGeom prst="rect">
            <a:avLst/>
          </a:prstGeom>
          <a:noFill/>
        </p:spPr>
        <p:txBody>
          <a:bodyPr wrap="none" lIns="0" tIns="0" rIns="0" bIns="0" rtlCol="0" anchor="t"/>
          <a:lstStyle/>
          <a:p>
            <a:pPr marL="0" indent="0" algn="ctr">
              <a:lnSpc>
                <a:spcPts val="2200"/>
              </a:lnSpc>
              <a:buNone/>
            </a:pPr>
            <a:r>
              <a:rPr lang="en-US" sz="2200" b="1" dirty="0">
                <a:solidFill>
                  <a:schemeClr val="bg1"/>
                </a:solidFill>
                <a:latin typeface="Barlow" panose="00000500000000000000" pitchFamily="2" charset="0"/>
              </a:rPr>
              <a:t>4</a:t>
            </a:r>
          </a:p>
        </p:txBody>
      </p:sp>
      <p:sp>
        <p:nvSpPr>
          <p:cNvPr id="27" name="TextBox 26">
            <a:extLst>
              <a:ext uri="{FF2B5EF4-FFF2-40B4-BE49-F238E27FC236}">
                <a16:creationId xmlns:a16="http://schemas.microsoft.com/office/drawing/2014/main" id="{4658425B-1BAF-4894-95D1-2E22951FB113}"/>
              </a:ext>
            </a:extLst>
          </p:cNvPr>
          <p:cNvSpPr txBox="1"/>
          <p:nvPr/>
        </p:nvSpPr>
        <p:spPr>
          <a:xfrm>
            <a:off x="8164791" y="3914418"/>
            <a:ext cx="3422128"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Navigation Menu</a:t>
            </a:r>
          </a:p>
        </p:txBody>
      </p:sp>
      <p:sp>
        <p:nvSpPr>
          <p:cNvPr id="28" name="TextBox 27">
            <a:extLst>
              <a:ext uri="{FF2B5EF4-FFF2-40B4-BE49-F238E27FC236}">
                <a16:creationId xmlns:a16="http://schemas.microsoft.com/office/drawing/2014/main" id="{11955CF3-0B2F-4527-9C2E-3309D0F6139F}"/>
              </a:ext>
            </a:extLst>
          </p:cNvPr>
          <p:cNvSpPr txBox="1"/>
          <p:nvPr/>
        </p:nvSpPr>
        <p:spPr>
          <a:xfrm>
            <a:off x="8164791" y="4297551"/>
            <a:ext cx="4509892" cy="1200329"/>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A clear and simple menu allows users to easily navigate the website. The menu items highlight when hovered over, improving user experience.</a:t>
            </a:r>
          </a:p>
        </p:txBody>
      </p:sp>
      <p:sp>
        <p:nvSpPr>
          <p:cNvPr id="29" name="Shape 11">
            <a:extLst>
              <a:ext uri="{FF2B5EF4-FFF2-40B4-BE49-F238E27FC236}">
                <a16:creationId xmlns:a16="http://schemas.microsoft.com/office/drawing/2014/main" id="{09AFF6CC-4FA2-4084-8A1E-B7E0EB5E0A0F}"/>
              </a:ext>
            </a:extLst>
          </p:cNvPr>
          <p:cNvSpPr/>
          <p:nvPr/>
        </p:nvSpPr>
        <p:spPr>
          <a:xfrm>
            <a:off x="1056203" y="5828072"/>
            <a:ext cx="479108" cy="479108"/>
          </a:xfrm>
          <a:prstGeom prst="roundRect">
            <a:avLst>
              <a:gd name="adj" fmla="val 66677"/>
            </a:avLst>
          </a:prstGeom>
          <a:solidFill>
            <a:srgbClr val="0A081B"/>
          </a:solidFill>
          <a:ln w="22860">
            <a:solidFill>
              <a:srgbClr val="37A7E7"/>
            </a:solidFill>
            <a:prstDash val="solid"/>
          </a:ln>
        </p:spPr>
      </p:sp>
      <p:sp>
        <p:nvSpPr>
          <p:cNvPr id="30" name="Text 12">
            <a:extLst>
              <a:ext uri="{FF2B5EF4-FFF2-40B4-BE49-F238E27FC236}">
                <a16:creationId xmlns:a16="http://schemas.microsoft.com/office/drawing/2014/main" id="{DDF56B55-989C-4784-843D-6F2325812016}"/>
              </a:ext>
            </a:extLst>
          </p:cNvPr>
          <p:cNvSpPr/>
          <p:nvPr/>
        </p:nvSpPr>
        <p:spPr>
          <a:xfrm>
            <a:off x="1212652" y="5925584"/>
            <a:ext cx="166211" cy="283964"/>
          </a:xfrm>
          <a:prstGeom prst="rect">
            <a:avLst/>
          </a:prstGeom>
          <a:noFill/>
        </p:spPr>
        <p:txBody>
          <a:bodyPr wrap="none" lIns="0" tIns="0" rIns="0" bIns="0" rtlCol="0" anchor="t"/>
          <a:lstStyle/>
          <a:p>
            <a:pPr marL="0" indent="0" algn="ctr">
              <a:lnSpc>
                <a:spcPts val="2200"/>
              </a:lnSpc>
              <a:buNone/>
            </a:pPr>
            <a:r>
              <a:rPr lang="en-US" sz="2200" b="1" dirty="0">
                <a:solidFill>
                  <a:srgbClr val="E0E4E6"/>
                </a:solidFill>
                <a:latin typeface="Barlow" panose="00000500000000000000" pitchFamily="2" charset="0"/>
                <a:ea typeface="Spline Sans" pitchFamily="34" charset="-122"/>
                <a:cs typeface="Spline Sans" pitchFamily="34" charset="-120"/>
              </a:rPr>
              <a:t>5</a:t>
            </a:r>
            <a:endParaRPr lang="en-US" sz="2200" dirty="0">
              <a:latin typeface="Barlow" panose="00000500000000000000" pitchFamily="2" charset="0"/>
            </a:endParaRPr>
          </a:p>
        </p:txBody>
      </p:sp>
      <p:sp>
        <p:nvSpPr>
          <p:cNvPr id="31" name="TextBox 30">
            <a:extLst>
              <a:ext uri="{FF2B5EF4-FFF2-40B4-BE49-F238E27FC236}">
                <a16:creationId xmlns:a16="http://schemas.microsoft.com/office/drawing/2014/main" id="{102D6B97-4575-4AB1-9910-B6F1282A63B2}"/>
              </a:ext>
            </a:extLst>
          </p:cNvPr>
          <p:cNvSpPr txBox="1"/>
          <p:nvPr/>
        </p:nvSpPr>
        <p:spPr>
          <a:xfrm>
            <a:off x="1793631" y="5880560"/>
            <a:ext cx="2580241"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Shopping Cart</a:t>
            </a:r>
          </a:p>
        </p:txBody>
      </p:sp>
      <p:sp>
        <p:nvSpPr>
          <p:cNvPr id="32" name="TextBox 31">
            <a:extLst>
              <a:ext uri="{FF2B5EF4-FFF2-40B4-BE49-F238E27FC236}">
                <a16:creationId xmlns:a16="http://schemas.microsoft.com/office/drawing/2014/main" id="{0436D069-92EF-4B27-843B-5612D9B7783D}"/>
              </a:ext>
            </a:extLst>
          </p:cNvPr>
          <p:cNvSpPr txBox="1"/>
          <p:nvPr/>
        </p:nvSpPr>
        <p:spPr>
          <a:xfrm>
            <a:off x="1793631" y="6263693"/>
            <a:ext cx="4509892" cy="923330"/>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Users can add products to their shopping cart, view item details, and see the total price before proceeding to checkout.</a:t>
            </a:r>
          </a:p>
        </p:txBody>
      </p:sp>
      <p:sp>
        <p:nvSpPr>
          <p:cNvPr id="33" name="Shape 11">
            <a:extLst>
              <a:ext uri="{FF2B5EF4-FFF2-40B4-BE49-F238E27FC236}">
                <a16:creationId xmlns:a16="http://schemas.microsoft.com/office/drawing/2014/main" id="{9B468ED8-8847-4F26-90BF-41EC79EA13A9}"/>
              </a:ext>
            </a:extLst>
          </p:cNvPr>
          <p:cNvSpPr/>
          <p:nvPr/>
        </p:nvSpPr>
        <p:spPr>
          <a:xfrm>
            <a:off x="7427363" y="5874691"/>
            <a:ext cx="479108" cy="479108"/>
          </a:xfrm>
          <a:prstGeom prst="roundRect">
            <a:avLst>
              <a:gd name="adj" fmla="val 66677"/>
            </a:avLst>
          </a:prstGeom>
          <a:solidFill>
            <a:srgbClr val="0A081B"/>
          </a:solidFill>
          <a:ln w="22860">
            <a:solidFill>
              <a:srgbClr val="37A7E7"/>
            </a:solidFill>
            <a:prstDash val="solid"/>
          </a:ln>
        </p:spPr>
      </p:sp>
      <p:sp>
        <p:nvSpPr>
          <p:cNvPr id="34" name="Text 12">
            <a:extLst>
              <a:ext uri="{FF2B5EF4-FFF2-40B4-BE49-F238E27FC236}">
                <a16:creationId xmlns:a16="http://schemas.microsoft.com/office/drawing/2014/main" id="{3AF640FC-8203-4515-B54E-6E4EB4FC6FEE}"/>
              </a:ext>
            </a:extLst>
          </p:cNvPr>
          <p:cNvSpPr/>
          <p:nvPr/>
        </p:nvSpPr>
        <p:spPr>
          <a:xfrm>
            <a:off x="7583812" y="5972203"/>
            <a:ext cx="166211" cy="283964"/>
          </a:xfrm>
          <a:prstGeom prst="rect">
            <a:avLst/>
          </a:prstGeom>
          <a:noFill/>
        </p:spPr>
        <p:txBody>
          <a:bodyPr wrap="none" lIns="0" tIns="0" rIns="0" bIns="0" rtlCol="0" anchor="t"/>
          <a:lstStyle/>
          <a:p>
            <a:pPr marL="0" indent="0" algn="ctr">
              <a:lnSpc>
                <a:spcPts val="2200"/>
              </a:lnSpc>
              <a:buNone/>
            </a:pPr>
            <a:r>
              <a:rPr lang="en-US" sz="2200" b="1" dirty="0">
                <a:solidFill>
                  <a:schemeClr val="bg1"/>
                </a:solidFill>
                <a:latin typeface="Barlow" panose="00000500000000000000" pitchFamily="2" charset="0"/>
              </a:rPr>
              <a:t>6</a:t>
            </a:r>
          </a:p>
        </p:txBody>
      </p:sp>
      <p:sp>
        <p:nvSpPr>
          <p:cNvPr id="35" name="TextBox 34">
            <a:extLst>
              <a:ext uri="{FF2B5EF4-FFF2-40B4-BE49-F238E27FC236}">
                <a16:creationId xmlns:a16="http://schemas.microsoft.com/office/drawing/2014/main" id="{3F494FDB-ABF3-49AD-B221-8E99E77E7695}"/>
              </a:ext>
            </a:extLst>
          </p:cNvPr>
          <p:cNvSpPr txBox="1"/>
          <p:nvPr/>
        </p:nvSpPr>
        <p:spPr>
          <a:xfrm>
            <a:off x="8164791" y="5891803"/>
            <a:ext cx="4442255" cy="461665"/>
          </a:xfrm>
          <a:prstGeom prst="rect">
            <a:avLst/>
          </a:prstGeom>
          <a:noFill/>
        </p:spPr>
        <p:txBody>
          <a:bodyPr wrap="square" rtlCol="0">
            <a:spAutoFit/>
          </a:bodyPr>
          <a:lstStyle/>
          <a:p>
            <a:r>
              <a:rPr lang="en-US" sz="2400" dirty="0">
                <a:solidFill>
                  <a:schemeClr val="bg1"/>
                </a:solidFill>
                <a:latin typeface="Barlow" panose="00000500000000000000" pitchFamily="2" charset="0"/>
              </a:rPr>
              <a:t>Contact and Branch Information</a:t>
            </a:r>
          </a:p>
        </p:txBody>
      </p:sp>
      <p:sp>
        <p:nvSpPr>
          <p:cNvPr id="36" name="TextBox 35">
            <a:extLst>
              <a:ext uri="{FF2B5EF4-FFF2-40B4-BE49-F238E27FC236}">
                <a16:creationId xmlns:a16="http://schemas.microsoft.com/office/drawing/2014/main" id="{34F732FB-0A6B-4B8C-8F9C-2ACA8B1023C3}"/>
              </a:ext>
            </a:extLst>
          </p:cNvPr>
          <p:cNvSpPr txBox="1"/>
          <p:nvPr/>
        </p:nvSpPr>
        <p:spPr>
          <a:xfrm>
            <a:off x="8164791" y="6310312"/>
            <a:ext cx="4509892" cy="1200329"/>
          </a:xfrm>
          <a:prstGeom prst="rect">
            <a:avLst/>
          </a:prstGeom>
          <a:noFill/>
        </p:spPr>
        <p:txBody>
          <a:bodyPr wrap="square" rtlCol="0">
            <a:spAutoFit/>
          </a:bodyPr>
          <a:lstStyle/>
          <a:p>
            <a:pPr algn="just"/>
            <a:r>
              <a:rPr lang="en-US" dirty="0">
                <a:solidFill>
                  <a:schemeClr val="bg1"/>
                </a:solidFill>
                <a:latin typeface="Barlow" panose="00000500000000000000" pitchFamily="2" charset="0"/>
              </a:rPr>
              <a:t>The website includes sections for users to find contact information and details about different branches, with location maps integrated.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21791"/>
            <a:ext cx="14630400" cy="8229600"/>
          </a:xfrm>
          <a:prstGeom prst="rect">
            <a:avLst/>
          </a:prstGeom>
          <a:solidFill>
            <a:srgbClr val="0A081B">
              <a:alpha val="75000"/>
            </a:srgbClr>
          </a:solidFill>
        </p:spPr>
        <p:txBody>
          <a:bodyPr/>
          <a:lstStyle/>
          <a:p>
            <a:endParaRPr lang="en-US" dirty="0"/>
          </a:p>
        </p:txBody>
      </p:sp>
      <p:sp>
        <p:nvSpPr>
          <p:cNvPr id="4" name="Text 1"/>
          <p:cNvSpPr/>
          <p:nvPr/>
        </p:nvSpPr>
        <p:spPr>
          <a:xfrm>
            <a:off x="864037" y="752118"/>
            <a:ext cx="6046113" cy="685800"/>
          </a:xfrm>
          <a:prstGeom prst="rect">
            <a:avLst/>
          </a:prstGeom>
          <a:noFill/>
        </p:spPr>
        <p:txBody>
          <a:bodyPr wrap="none" lIns="0" tIns="0" rIns="0" bIns="0" rtlCol="0" anchor="t"/>
          <a:lstStyle/>
          <a:p>
            <a:pPr marL="0" indent="0">
              <a:lnSpc>
                <a:spcPts val="5400"/>
              </a:lnSpc>
              <a:buNone/>
            </a:pPr>
            <a:r>
              <a:rPr lang="en-US" sz="4300" b="1" dirty="0">
                <a:solidFill>
                  <a:srgbClr val="F0FCFF"/>
                </a:solidFill>
                <a:latin typeface="Spline Sans" pitchFamily="34" charset="0"/>
                <a:ea typeface="Spline Sans" pitchFamily="34" charset="-122"/>
                <a:cs typeface="Spline Sans" pitchFamily="34" charset="-120"/>
              </a:rPr>
              <a:t>System Architecture</a:t>
            </a:r>
            <a:endParaRPr lang="en-US" sz="4300" dirty="0"/>
          </a:p>
        </p:txBody>
      </p:sp>
      <p:sp>
        <p:nvSpPr>
          <p:cNvPr id="6" name="Text 3"/>
          <p:cNvSpPr/>
          <p:nvPr/>
        </p:nvSpPr>
        <p:spPr>
          <a:xfrm>
            <a:off x="864038" y="2018586"/>
            <a:ext cx="2743200" cy="342900"/>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lIns="0" tIns="0" rIns="0" bIns="0" rtlCol="0" anchor="t"/>
          <a:lstStyle/>
          <a:p>
            <a:pPr marL="0" indent="0">
              <a:lnSpc>
                <a:spcPts val="2700"/>
              </a:lnSpc>
              <a:buNone/>
            </a:pPr>
            <a:r>
              <a:rPr lang="en-US" sz="2150" b="1" dirty="0">
                <a:solidFill>
                  <a:srgbClr val="F0FCFF"/>
                </a:solidFill>
                <a:latin typeface="Spline Sans" pitchFamily="34" charset="0"/>
                <a:ea typeface="Spline Sans" pitchFamily="34" charset="-122"/>
                <a:cs typeface="Spline Sans" pitchFamily="34" charset="-120"/>
              </a:rPr>
              <a:t>Frontend (User Interface)</a:t>
            </a:r>
            <a:endParaRPr lang="en-US" sz="2150" dirty="0"/>
          </a:p>
        </p:txBody>
      </p:sp>
      <p:sp>
        <p:nvSpPr>
          <p:cNvPr id="11" name="Text 8"/>
          <p:cNvSpPr/>
          <p:nvPr/>
        </p:nvSpPr>
        <p:spPr>
          <a:xfrm>
            <a:off x="5372696" y="2018586"/>
            <a:ext cx="3001089" cy="342900"/>
          </a:xfrm>
          <a:prstGeom prst="rect">
            <a:avLst/>
          </a:prstGeom>
          <a:noFill/>
        </p:spPr>
        <p:txBody>
          <a:bodyPr wrap="none" lIns="0" tIns="0" rIns="0" bIns="0" rtlCol="0" anchor="t"/>
          <a:lstStyle/>
          <a:p>
            <a:pPr marL="0" indent="0">
              <a:lnSpc>
                <a:spcPts val="2700"/>
              </a:lnSpc>
              <a:buNone/>
            </a:pPr>
            <a:r>
              <a:rPr lang="en-US" sz="2150" b="1" dirty="0">
                <a:solidFill>
                  <a:srgbClr val="F0FCFF"/>
                </a:solidFill>
                <a:latin typeface="Spline Sans" pitchFamily="34" charset="0"/>
                <a:ea typeface="Spline Sans" pitchFamily="34" charset="-122"/>
                <a:cs typeface="Spline Sans" pitchFamily="34" charset="-120"/>
              </a:rPr>
              <a:t>Backend (Server-Side)</a:t>
            </a:r>
            <a:endParaRPr lang="en-US" sz="2150" dirty="0"/>
          </a:p>
        </p:txBody>
      </p:sp>
      <p:sp>
        <p:nvSpPr>
          <p:cNvPr id="16" name="Text 13"/>
          <p:cNvSpPr/>
          <p:nvPr/>
        </p:nvSpPr>
        <p:spPr>
          <a:xfrm>
            <a:off x="9881355" y="2018586"/>
            <a:ext cx="2743200" cy="342900"/>
          </a:xfrm>
          <a:prstGeom prst="rect">
            <a:avLst/>
          </a:prstGeom>
          <a:noFill/>
        </p:spPr>
        <p:txBody>
          <a:bodyPr wrap="none" lIns="0" tIns="0" rIns="0" bIns="0" rtlCol="0" anchor="t"/>
          <a:lstStyle/>
          <a:p>
            <a:pPr marL="0" indent="0">
              <a:lnSpc>
                <a:spcPts val="2700"/>
              </a:lnSpc>
              <a:buNone/>
            </a:pPr>
            <a:r>
              <a:rPr lang="en-US" sz="2150" b="1" dirty="0">
                <a:solidFill>
                  <a:srgbClr val="F0FCFF"/>
                </a:solidFill>
                <a:latin typeface="Spline Sans" pitchFamily="34" charset="0"/>
                <a:ea typeface="Spline Sans" pitchFamily="34" charset="-122"/>
                <a:cs typeface="Spline Sans" pitchFamily="34" charset="-120"/>
              </a:rPr>
              <a:t>Database</a:t>
            </a:r>
            <a:endParaRPr lang="en-US" sz="2150" dirty="0"/>
          </a:p>
        </p:txBody>
      </p:sp>
      <p:sp>
        <p:nvSpPr>
          <p:cNvPr id="22" name="TextBox 21"/>
          <p:cNvSpPr txBox="1"/>
          <p:nvPr/>
        </p:nvSpPr>
        <p:spPr>
          <a:xfrm>
            <a:off x="864037" y="2573891"/>
            <a:ext cx="3503890" cy="4678204"/>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solidFill>
                  <a:schemeClr val="bg1"/>
                </a:solidFill>
                <a:latin typeface="Barlow" panose="00000500000000000000" pitchFamily="34" charset="0"/>
              </a:rPr>
              <a:t>HTML/CSS</a:t>
            </a:r>
          </a:p>
          <a:p>
            <a:pPr lvl="1" algn="just"/>
            <a:r>
              <a:rPr lang="en-US" dirty="0">
                <a:solidFill>
                  <a:schemeClr val="bg1"/>
                </a:solidFill>
                <a:latin typeface="Barlow" panose="00000500000000000000" pitchFamily="34" charset="0"/>
              </a:rPr>
              <a:t>This is what the user sees and interacts with on the website, like the home, products, contact, about, login and registration pages. It includes the design, buttons, forms, and layout.</a:t>
            </a:r>
          </a:p>
          <a:p>
            <a:pPr lvl="1" algn="just"/>
            <a:endParaRPr lang="en-US" dirty="0">
              <a:solidFill>
                <a:schemeClr val="bg1"/>
              </a:solidFill>
              <a:latin typeface="Barlow" panose="00000500000000000000" pitchFamily="34" charset="0"/>
            </a:endParaRPr>
          </a:p>
          <a:p>
            <a:pPr marL="285750" indent="-285750">
              <a:buFont typeface="Wingdings" panose="05000000000000000000" pitchFamily="2" charset="2"/>
              <a:buChar char="Ø"/>
            </a:pPr>
            <a:r>
              <a:rPr lang="en-US" sz="2000" dirty="0">
                <a:solidFill>
                  <a:schemeClr val="bg1"/>
                </a:solidFill>
                <a:latin typeface="Barlow" panose="00000500000000000000" pitchFamily="34" charset="0"/>
              </a:rPr>
              <a:t>JavaScript (optional if included)</a:t>
            </a:r>
          </a:p>
          <a:p>
            <a:pPr lvl="1" algn="just"/>
            <a:r>
              <a:rPr lang="en-US" dirty="0">
                <a:solidFill>
                  <a:schemeClr val="bg1"/>
                </a:solidFill>
                <a:latin typeface="Barlow" panose="00000500000000000000" pitchFamily="34" charset="0"/>
              </a:rPr>
              <a:t>This could handle any interactive features on the website, like validating forms or handling user actions.</a:t>
            </a:r>
          </a:p>
        </p:txBody>
      </p:sp>
      <p:sp>
        <p:nvSpPr>
          <p:cNvPr id="23" name="TextBox 22"/>
          <p:cNvSpPr txBox="1"/>
          <p:nvPr/>
        </p:nvSpPr>
        <p:spPr>
          <a:xfrm>
            <a:off x="5231963" y="2573891"/>
            <a:ext cx="3503890" cy="2400657"/>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solidFill>
                  <a:schemeClr val="bg1"/>
                </a:solidFill>
                <a:latin typeface="Barlow" panose="00000500000000000000" pitchFamily="34" charset="0"/>
              </a:rPr>
              <a:t>PHP</a:t>
            </a:r>
          </a:p>
          <a:p>
            <a:pPr lvl="1" algn="just"/>
            <a:r>
              <a:rPr lang="en-US" dirty="0">
                <a:solidFill>
                  <a:schemeClr val="bg1"/>
                </a:solidFill>
                <a:latin typeface="Barlow" panose="00000500000000000000" pitchFamily="34" charset="0"/>
              </a:rPr>
              <a:t>This is the engine behind the scenes. It processes the user's requests, like logging in or registering, and interacts with the database to store or retrieve information.</a:t>
            </a:r>
          </a:p>
        </p:txBody>
      </p:sp>
      <p:sp>
        <p:nvSpPr>
          <p:cNvPr id="24" name="TextBox 23"/>
          <p:cNvSpPr txBox="1"/>
          <p:nvPr/>
        </p:nvSpPr>
        <p:spPr>
          <a:xfrm>
            <a:off x="9599889" y="2573891"/>
            <a:ext cx="3503890" cy="2954655"/>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solidFill>
                  <a:schemeClr val="bg1"/>
                </a:solidFill>
                <a:latin typeface="Barlow" panose="00000500000000000000" pitchFamily="34" charset="0"/>
              </a:rPr>
              <a:t>MySQL</a:t>
            </a:r>
          </a:p>
          <a:p>
            <a:pPr lvl="1" algn="just"/>
            <a:r>
              <a:rPr lang="en-US" dirty="0">
                <a:solidFill>
                  <a:schemeClr val="bg1"/>
                </a:solidFill>
                <a:latin typeface="Barlow" panose="00000500000000000000" pitchFamily="34" charset="0"/>
              </a:rPr>
              <a:t>The database stores all the essential information, such as user details (like usernames and passwords), product listings, and customer orders. The backend (PHP) connects with this database to fetch and update data as needed.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88258" cy="822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8258" y="0"/>
            <a:ext cx="7842141" cy="822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726264" cy="822959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6266" y="0"/>
            <a:ext cx="7904134" cy="822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113722" cy="822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3722" y="0"/>
            <a:ext cx="7516677" cy="8229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sp>
        <p:nvSpPr>
          <p:cNvPr id="5" name="Text 1"/>
          <p:cNvSpPr/>
          <p:nvPr/>
        </p:nvSpPr>
        <p:spPr>
          <a:xfrm>
            <a:off x="6177677" y="895231"/>
            <a:ext cx="7456170" cy="548521"/>
          </a:xfrm>
          <a:prstGeom prst="rect">
            <a:avLst/>
          </a:prstGeom>
          <a:noFill/>
        </p:spPr>
        <p:txBody>
          <a:bodyPr wrap="none" lIns="0" tIns="0" rIns="0" bIns="0" rtlCol="0" anchor="t"/>
          <a:lstStyle/>
          <a:p>
            <a:pPr marL="0" indent="0">
              <a:lnSpc>
                <a:spcPts val="4300"/>
              </a:lnSpc>
              <a:buNone/>
            </a:pPr>
            <a:r>
              <a:rPr lang="en-US" sz="3450" b="1" dirty="0">
                <a:solidFill>
                  <a:srgbClr val="F0FCFF"/>
                </a:solidFill>
                <a:latin typeface="Spline Sans" pitchFamily="34" charset="0"/>
                <a:ea typeface="Spline Sans" pitchFamily="34" charset="-122"/>
                <a:cs typeface="Spline Sans" pitchFamily="34" charset="-120"/>
              </a:rPr>
              <a:t>DEVELOPMENT  PROCESS</a:t>
            </a:r>
            <a:endParaRPr lang="en-US" sz="3450" dirty="0"/>
          </a:p>
        </p:txBody>
      </p:sp>
      <p:sp>
        <p:nvSpPr>
          <p:cNvPr id="6" name="Text 2"/>
          <p:cNvSpPr/>
          <p:nvPr/>
        </p:nvSpPr>
        <p:spPr>
          <a:xfrm>
            <a:off x="6177677" y="1739979"/>
            <a:ext cx="7761446" cy="631984"/>
          </a:xfrm>
          <a:prstGeom prst="rect">
            <a:avLst/>
          </a:prstGeom>
          <a:noFill/>
        </p:spPr>
        <p:txBody>
          <a:bodyPr wrap="square" lIns="0" tIns="0" rIns="0" bIns="0" rtlCol="0" anchor="t"/>
          <a:lstStyle/>
          <a:p>
            <a:pPr marL="0" indent="0">
              <a:lnSpc>
                <a:spcPts val="2450"/>
              </a:lnSpc>
              <a:buNone/>
            </a:pPr>
            <a:r>
              <a:rPr lang="en-US" sz="1550" dirty="0">
                <a:solidFill>
                  <a:srgbClr val="E0E4E6"/>
                </a:solidFill>
                <a:latin typeface="Barlow" panose="00000500000000000000" pitchFamily="34" charset="0"/>
                <a:ea typeface="Barlow" panose="00000500000000000000" pitchFamily="34" charset="-122"/>
                <a:cs typeface="Barlow" panose="00000500000000000000" pitchFamily="34" charset="-120"/>
              </a:rPr>
              <a:t>Development Process  is done by using following technologies</a:t>
            </a:r>
            <a:endParaRPr lang="en-US" sz="1550" dirty="0"/>
          </a:p>
        </p:txBody>
      </p:sp>
      <p:pic>
        <p:nvPicPr>
          <p:cNvPr id="7" name="Image 2" descr="preencoded.png"/>
          <p:cNvPicPr>
            <a:picLocks noChangeAspect="1"/>
          </p:cNvPicPr>
          <p:nvPr/>
        </p:nvPicPr>
        <p:blipFill>
          <a:blip r:embed="rId4"/>
          <a:stretch>
            <a:fillRect/>
          </a:stretch>
        </p:blipFill>
        <p:spPr>
          <a:xfrm>
            <a:off x="6177677" y="2594134"/>
            <a:ext cx="987504" cy="1580078"/>
          </a:xfrm>
          <a:prstGeom prst="rect">
            <a:avLst/>
          </a:prstGeom>
        </p:spPr>
      </p:pic>
      <p:sp>
        <p:nvSpPr>
          <p:cNvPr id="8" name="Text 3"/>
          <p:cNvSpPr/>
          <p:nvPr/>
        </p:nvSpPr>
        <p:spPr>
          <a:xfrm>
            <a:off x="7461409" y="2791539"/>
            <a:ext cx="2194560" cy="274201"/>
          </a:xfrm>
          <a:prstGeom prst="rect">
            <a:avLst/>
          </a:prstGeom>
          <a:noFill/>
        </p:spPr>
        <p:txBody>
          <a:bodyPr wrap="none" lIns="0" tIns="0" rIns="0" bIns="0" rtlCol="0" anchor="t"/>
          <a:lstStyle/>
          <a:p>
            <a:pPr marL="0" indent="0" algn="l">
              <a:lnSpc>
                <a:spcPts val="2150"/>
              </a:lnSpc>
              <a:buNone/>
            </a:pPr>
            <a:r>
              <a:rPr lang="en-US" sz="1700" b="1" dirty="0">
                <a:solidFill>
                  <a:srgbClr val="E0E4E6"/>
                </a:solidFill>
                <a:latin typeface="Spline Sans" pitchFamily="34" charset="0"/>
              </a:rPr>
              <a:t>Web page design</a:t>
            </a:r>
            <a:endParaRPr lang="en-US" sz="1700" dirty="0"/>
          </a:p>
        </p:txBody>
      </p:sp>
      <p:sp>
        <p:nvSpPr>
          <p:cNvPr id="9" name="Text 4"/>
          <p:cNvSpPr/>
          <p:nvPr/>
        </p:nvSpPr>
        <p:spPr>
          <a:xfrm>
            <a:off x="7461409" y="3184207"/>
            <a:ext cx="6477714" cy="631984"/>
          </a:xfrm>
          <a:prstGeom prst="rect">
            <a:avLst/>
          </a:prstGeom>
          <a:noFill/>
        </p:spPr>
        <p:txBody>
          <a:bodyPr wrap="square" lIns="0" tIns="0" rIns="0" bIns="0" rtlCol="0" anchor="t"/>
          <a:lstStyle/>
          <a:p>
            <a:pPr marL="0" indent="0" algn="l">
              <a:lnSpc>
                <a:spcPts val="2450"/>
              </a:lnSpc>
              <a:buNone/>
            </a:pPr>
            <a:r>
              <a:rPr lang="en-US" sz="1550" dirty="0"/>
              <a:t>l</a:t>
            </a:r>
            <a:r>
              <a:rPr lang="en-US" sz="1550" dirty="0">
                <a:solidFill>
                  <a:schemeClr val="bg1"/>
                </a:solidFill>
              </a:rPr>
              <a:t>Structure of the web page was completely developed using HTML,JAVASCRIPT and CSS </a:t>
            </a:r>
            <a:endParaRPr lang="en-US" sz="1550" dirty="0"/>
          </a:p>
        </p:txBody>
      </p:sp>
      <p:pic>
        <p:nvPicPr>
          <p:cNvPr id="10" name="Image 3" descr="preencoded.png"/>
          <p:cNvPicPr>
            <a:picLocks noChangeAspect="1"/>
          </p:cNvPicPr>
          <p:nvPr/>
        </p:nvPicPr>
        <p:blipFill>
          <a:blip r:embed="rId5"/>
          <a:stretch>
            <a:fillRect/>
          </a:stretch>
        </p:blipFill>
        <p:spPr>
          <a:xfrm>
            <a:off x="6177677" y="4174212"/>
            <a:ext cx="987504" cy="1580078"/>
          </a:xfrm>
          <a:prstGeom prst="rect">
            <a:avLst/>
          </a:prstGeom>
        </p:spPr>
      </p:pic>
      <p:sp>
        <p:nvSpPr>
          <p:cNvPr id="11" name="Text 5"/>
          <p:cNvSpPr/>
          <p:nvPr/>
        </p:nvSpPr>
        <p:spPr>
          <a:xfrm>
            <a:off x="7461409" y="4371618"/>
            <a:ext cx="2194560" cy="274201"/>
          </a:xfrm>
          <a:prstGeom prst="rect">
            <a:avLst/>
          </a:prstGeom>
          <a:noFill/>
        </p:spPr>
        <p:txBody>
          <a:bodyPr wrap="none" lIns="0" tIns="0" rIns="0" bIns="0" rtlCol="0" anchor="t"/>
          <a:lstStyle/>
          <a:p>
            <a:pPr marL="0" indent="0" algn="l">
              <a:lnSpc>
                <a:spcPts val="2150"/>
              </a:lnSpc>
              <a:buNone/>
            </a:pPr>
            <a:r>
              <a:rPr lang="en-US" sz="1700" b="1" dirty="0">
                <a:solidFill>
                  <a:srgbClr val="E0E4E6"/>
                </a:solidFill>
                <a:latin typeface="Spline Sans" pitchFamily="34" charset="0"/>
              </a:rPr>
              <a:t>Register and login details</a:t>
            </a:r>
            <a:endParaRPr lang="en-US" sz="1700" dirty="0"/>
          </a:p>
        </p:txBody>
      </p:sp>
      <p:sp>
        <p:nvSpPr>
          <p:cNvPr id="12" name="Text 6"/>
          <p:cNvSpPr/>
          <p:nvPr/>
        </p:nvSpPr>
        <p:spPr>
          <a:xfrm>
            <a:off x="7461409" y="4764286"/>
            <a:ext cx="6477714" cy="631984"/>
          </a:xfrm>
          <a:prstGeom prst="rect">
            <a:avLst/>
          </a:prstGeom>
          <a:noFill/>
        </p:spPr>
        <p:txBody>
          <a:bodyPr wrap="square" lIns="0" tIns="0" rIns="0" bIns="0" rtlCol="0" anchor="t"/>
          <a:lstStyle/>
          <a:p>
            <a:pPr marL="0" indent="0" algn="l">
              <a:lnSpc>
                <a:spcPts val="2450"/>
              </a:lnSpc>
              <a:buNone/>
            </a:pPr>
            <a:r>
              <a:rPr lang="en-US" sz="1550" dirty="0">
                <a:solidFill>
                  <a:srgbClr val="E0E4E6"/>
                </a:solidFill>
                <a:latin typeface="Barlow" panose="00000500000000000000" pitchFamily="34" charset="0"/>
              </a:rPr>
              <a:t>Register and login  page developed using PHP</a:t>
            </a:r>
            <a:endParaRPr lang="en-US" sz="1550" dirty="0"/>
          </a:p>
        </p:txBody>
      </p:sp>
      <p:pic>
        <p:nvPicPr>
          <p:cNvPr id="13" name="Image 4" descr="preencoded.png"/>
          <p:cNvPicPr>
            <a:picLocks noChangeAspect="1"/>
          </p:cNvPicPr>
          <p:nvPr/>
        </p:nvPicPr>
        <p:blipFill>
          <a:blip r:embed="rId6"/>
          <a:stretch>
            <a:fillRect/>
          </a:stretch>
        </p:blipFill>
        <p:spPr>
          <a:xfrm>
            <a:off x="6177677" y="5754291"/>
            <a:ext cx="987504" cy="1580078"/>
          </a:xfrm>
          <a:prstGeom prst="rect">
            <a:avLst/>
          </a:prstGeom>
        </p:spPr>
      </p:pic>
      <p:sp>
        <p:nvSpPr>
          <p:cNvPr id="14" name="Text 7"/>
          <p:cNvSpPr/>
          <p:nvPr/>
        </p:nvSpPr>
        <p:spPr>
          <a:xfrm>
            <a:off x="7461409" y="5951696"/>
            <a:ext cx="2418159" cy="274201"/>
          </a:xfrm>
          <a:prstGeom prst="rect">
            <a:avLst/>
          </a:prstGeom>
          <a:noFill/>
        </p:spPr>
        <p:txBody>
          <a:bodyPr wrap="none" lIns="0" tIns="0" rIns="0" bIns="0" rtlCol="0" anchor="t"/>
          <a:lstStyle/>
          <a:p>
            <a:pPr marL="0" indent="0" algn="l">
              <a:lnSpc>
                <a:spcPts val="2150"/>
              </a:lnSpc>
              <a:buNone/>
            </a:pPr>
            <a:r>
              <a:rPr lang="en-US" sz="1700" b="1" dirty="0">
                <a:solidFill>
                  <a:srgbClr val="E0E4E6"/>
                </a:solidFill>
                <a:latin typeface="Spline Sans" pitchFamily="34" charset="0"/>
              </a:rPr>
              <a:t>Database  Development</a:t>
            </a:r>
            <a:endParaRPr lang="en-US" sz="1700" dirty="0"/>
          </a:p>
        </p:txBody>
      </p:sp>
      <p:sp>
        <p:nvSpPr>
          <p:cNvPr id="15" name="Text 8"/>
          <p:cNvSpPr/>
          <p:nvPr/>
        </p:nvSpPr>
        <p:spPr>
          <a:xfrm>
            <a:off x="7461409" y="6344364"/>
            <a:ext cx="6477714" cy="631984"/>
          </a:xfrm>
          <a:prstGeom prst="rect">
            <a:avLst/>
          </a:prstGeom>
          <a:noFill/>
        </p:spPr>
        <p:txBody>
          <a:bodyPr wrap="square" lIns="0" tIns="0" rIns="0" bIns="0" rtlCol="0" anchor="t"/>
          <a:lstStyle/>
          <a:p>
            <a:pPr marL="0" indent="0" algn="l">
              <a:lnSpc>
                <a:spcPts val="2450"/>
              </a:lnSpc>
              <a:buNone/>
            </a:pPr>
            <a:r>
              <a:rPr lang="en-US" sz="1550" dirty="0">
                <a:solidFill>
                  <a:srgbClr val="E0E4E6"/>
                </a:solidFill>
                <a:latin typeface="Barlow" panose="00000500000000000000" pitchFamily="34" charset="0"/>
              </a:rPr>
              <a:t>Database was done by using MySql </a:t>
            </a:r>
            <a:endParaRPr lang="en-US" sz="1550" dirty="0"/>
          </a:p>
        </p:txBody>
      </p:sp>
      <p:pic>
        <p:nvPicPr>
          <p:cNvPr id="20" name="Picture 19"/>
          <p:cNvPicPr>
            <a:picLocks noChangeAspect="1"/>
          </p:cNvPicPr>
          <p:nvPr/>
        </p:nvPicPr>
        <p:blipFill>
          <a:blip r:embed="rId7">
            <a:extLst>
              <a:ext uri="{BEBA8EAE-BF5A-486C-A8C5-ECC9F3942E4B}">
                <a14:imgProps xmlns:a14="http://schemas.microsoft.com/office/drawing/2010/main">
                  <a14:imgLayer r:embed="rId8">
                    <a14:imgEffect>
                      <a14:artisticFilmGrain/>
                    </a14:imgEffect>
                  </a14:imgLayer>
                </a14:imgProps>
              </a:ext>
              <a:ext uri="{28A0092B-C50C-407E-A947-70E740481C1C}">
                <a14:useLocalDpi xmlns:a14="http://schemas.microsoft.com/office/drawing/2010/main" val="0"/>
              </a:ext>
            </a:extLst>
          </a:blip>
          <a:stretch>
            <a:fillRect/>
          </a:stretch>
        </p:blipFill>
        <p:spPr>
          <a:xfrm>
            <a:off x="0" y="0"/>
            <a:ext cx="5935851" cy="822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454685" cy="822959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4685" y="0"/>
            <a:ext cx="7175713" cy="8229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222210" cy="822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2211" y="0"/>
            <a:ext cx="7408189" cy="822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53207" cy="822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3207" y="0"/>
            <a:ext cx="7377193" cy="8229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2692" cy="82296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2692" y="0"/>
            <a:ext cx="7237708" cy="8229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74654"/>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6648994" cy="8229600"/>
          </a:xfrm>
          <a:prstGeom prst="rect">
            <a:avLst/>
          </a:prstGeom>
        </p:spPr>
      </p:pic>
      <p:sp>
        <p:nvSpPr>
          <p:cNvPr id="5" name="TextBox 4"/>
          <p:cNvSpPr txBox="1"/>
          <p:nvPr/>
        </p:nvSpPr>
        <p:spPr>
          <a:xfrm>
            <a:off x="7589519" y="3095898"/>
            <a:ext cx="2873826" cy="534035"/>
          </a:xfrm>
          <a:prstGeom prst="rect">
            <a:avLst/>
          </a:prstGeom>
          <a:noFill/>
          <a:ln>
            <a:noFill/>
          </a:ln>
        </p:spPr>
        <p:txBody>
          <a:bodyPr wrap="square" rtlCol="0">
            <a:spAutoFit/>
          </a:bodyPr>
          <a:lstStyle/>
          <a:p>
            <a:r>
              <a:rPr lang="en-US" sz="2880" dirty="0">
                <a:solidFill>
                  <a:schemeClr val="bg1"/>
                </a:solidFill>
              </a:rPr>
              <a:t>Key entities</a:t>
            </a:r>
          </a:p>
        </p:txBody>
      </p:sp>
      <p:sp>
        <p:nvSpPr>
          <p:cNvPr id="6" name="TextBox 5"/>
          <p:cNvSpPr txBox="1"/>
          <p:nvPr/>
        </p:nvSpPr>
        <p:spPr>
          <a:xfrm>
            <a:off x="7589519" y="1502228"/>
            <a:ext cx="6439988" cy="1087755"/>
          </a:xfrm>
          <a:prstGeom prst="rect">
            <a:avLst/>
          </a:prstGeom>
          <a:noFill/>
          <a:ln>
            <a:noFill/>
          </a:ln>
        </p:spPr>
        <p:txBody>
          <a:bodyPr wrap="square" rtlCol="0">
            <a:spAutoFit/>
          </a:bodyPr>
          <a:lstStyle/>
          <a:p>
            <a:r>
              <a:rPr lang="en-US" sz="2160" dirty="0">
                <a:ln>
                  <a:solidFill>
                    <a:schemeClr val="bg1"/>
                  </a:solidFill>
                </a:ln>
                <a:solidFill>
                  <a:schemeClr val="bg2">
                    <a:lumMod val="90000"/>
                  </a:schemeClr>
                </a:solidFill>
              </a:rPr>
              <a:t>Our project is Flower Shop Management System, and the database is the backbone, handling customer orders, inventory, and employee management.</a:t>
            </a:r>
          </a:p>
        </p:txBody>
      </p:sp>
      <p:sp>
        <p:nvSpPr>
          <p:cNvPr id="8" name="TextBox 7"/>
          <p:cNvSpPr txBox="1"/>
          <p:nvPr/>
        </p:nvSpPr>
        <p:spPr>
          <a:xfrm>
            <a:off x="8477796" y="339634"/>
            <a:ext cx="4663440" cy="755650"/>
          </a:xfrm>
          <a:prstGeom prst="rect">
            <a:avLst/>
          </a:prstGeom>
          <a:noFill/>
          <a:ln>
            <a:noFill/>
          </a:ln>
        </p:spPr>
        <p:txBody>
          <a:bodyPr wrap="square" rtlCol="0">
            <a:spAutoFit/>
          </a:bodyPr>
          <a:lstStyle/>
          <a:p>
            <a:r>
              <a:rPr lang="en-US" sz="4320" u="sng" dirty="0">
                <a:ln>
                  <a:solidFill>
                    <a:schemeClr val="bg1"/>
                  </a:solidFill>
                </a:ln>
                <a:solidFill>
                  <a:schemeClr val="bg1"/>
                </a:solidFill>
              </a:rPr>
              <a:t>Database Overview</a:t>
            </a:r>
          </a:p>
        </p:txBody>
      </p:sp>
      <p:sp>
        <p:nvSpPr>
          <p:cNvPr id="9" name="TextBox 8"/>
          <p:cNvSpPr txBox="1"/>
          <p:nvPr/>
        </p:nvSpPr>
        <p:spPr>
          <a:xfrm>
            <a:off x="7935686" y="3882438"/>
            <a:ext cx="2873826" cy="1568450"/>
          </a:xfrm>
          <a:prstGeom prst="rect">
            <a:avLst/>
          </a:prstGeom>
          <a:noFill/>
          <a:ln>
            <a:noFill/>
          </a:ln>
        </p:spPr>
        <p:txBody>
          <a:bodyPr wrap="square" rtlCol="0">
            <a:spAutoFit/>
          </a:bodyPr>
          <a:lstStyle/>
          <a:p>
            <a:pPr marL="342900" indent="-342900">
              <a:buFont typeface="Wingdings" panose="05000000000000000000" pitchFamily="2" charset="2"/>
              <a:buChar char="Ø"/>
            </a:pPr>
            <a:r>
              <a:rPr lang="en-US" sz="2400" dirty="0">
                <a:solidFill>
                  <a:schemeClr val="bg1"/>
                </a:solidFill>
              </a:rPr>
              <a:t>Customer</a:t>
            </a:r>
          </a:p>
          <a:p>
            <a:pPr marL="342900" indent="-342900">
              <a:buFont typeface="Wingdings" panose="05000000000000000000" pitchFamily="2" charset="2"/>
              <a:buChar char="Ø"/>
            </a:pPr>
            <a:r>
              <a:rPr lang="en-US" sz="2400" dirty="0">
                <a:solidFill>
                  <a:schemeClr val="bg1"/>
                </a:solidFill>
              </a:rPr>
              <a:t>Products </a:t>
            </a:r>
          </a:p>
          <a:p>
            <a:pPr marL="342900" indent="-342900">
              <a:buFont typeface="Wingdings" panose="05000000000000000000" pitchFamily="2" charset="2"/>
              <a:buChar char="Ø"/>
            </a:pPr>
            <a:r>
              <a:rPr lang="en-US" sz="2400" dirty="0">
                <a:solidFill>
                  <a:schemeClr val="bg1"/>
                </a:solidFill>
              </a:rPr>
              <a:t>Orders</a:t>
            </a:r>
          </a:p>
          <a:p>
            <a:pPr marL="342900" indent="-342900">
              <a:buFont typeface="Wingdings" panose="05000000000000000000" pitchFamily="2" charset="2"/>
              <a:buChar char="Ø"/>
            </a:pPr>
            <a:r>
              <a:rPr lang="en-US" sz="2400" dirty="0">
                <a:solidFill>
                  <a:schemeClr val="bg1"/>
                </a:solidFill>
              </a:rPr>
              <a:t>Employees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74654"/>
        </a:solidFill>
        <a:effectLst/>
      </p:bgPr>
    </p:bg>
    <p:spTree>
      <p:nvGrpSpPr>
        <p:cNvPr id="1" name=""/>
        <p:cNvGrpSpPr/>
        <p:nvPr/>
      </p:nvGrpSpPr>
      <p:grpSpPr>
        <a:xfrm>
          <a:off x="0" y="0"/>
          <a:ext cx="0" cy="0"/>
          <a:chOff x="0" y="0"/>
          <a:chExt cx="0" cy="0"/>
        </a:xfrm>
      </p:grpSpPr>
      <p:sp>
        <p:nvSpPr>
          <p:cNvPr id="4" name="TextBox 3"/>
          <p:cNvSpPr txBox="1"/>
          <p:nvPr/>
        </p:nvSpPr>
        <p:spPr>
          <a:xfrm>
            <a:off x="1162595" y="592183"/>
            <a:ext cx="6074230" cy="755650"/>
          </a:xfrm>
          <a:prstGeom prst="rect">
            <a:avLst/>
          </a:prstGeom>
          <a:noFill/>
          <a:ln>
            <a:noFill/>
          </a:ln>
        </p:spPr>
        <p:txBody>
          <a:bodyPr wrap="square" rtlCol="0">
            <a:spAutoFit/>
          </a:bodyPr>
          <a:lstStyle/>
          <a:p>
            <a:r>
              <a:rPr lang="en-US" sz="4320" u="sng" dirty="0">
                <a:ln>
                  <a:solidFill>
                    <a:schemeClr val="bg1"/>
                  </a:solidFill>
                </a:ln>
                <a:solidFill>
                  <a:schemeClr val="bg1"/>
                </a:solidFill>
              </a:rPr>
              <a:t>Key Table &amp; Relationships</a:t>
            </a:r>
          </a:p>
        </p:txBody>
      </p:sp>
      <p:sp>
        <p:nvSpPr>
          <p:cNvPr id="5" name="TextBox 4"/>
          <p:cNvSpPr txBox="1"/>
          <p:nvPr/>
        </p:nvSpPr>
        <p:spPr>
          <a:xfrm>
            <a:off x="1685108" y="2173858"/>
            <a:ext cx="11848010" cy="829945"/>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The Customers Table </a:t>
            </a:r>
          </a:p>
          <a:p>
            <a:r>
              <a:rPr lang="en-US" sz="2400" dirty="0">
                <a:ln>
                  <a:solidFill>
                    <a:schemeClr val="bg1"/>
                  </a:solidFill>
                </a:ln>
                <a:solidFill>
                  <a:schemeClr val="bg1"/>
                </a:solidFill>
              </a:rPr>
              <a:t>               </a:t>
            </a:r>
            <a:r>
              <a:rPr lang="en-US" sz="2400" dirty="0">
                <a:solidFill>
                  <a:schemeClr val="bg1"/>
                </a:solidFill>
              </a:rPr>
              <a:t>Stores all relevant customer details, such as names and contact information. </a:t>
            </a:r>
          </a:p>
        </p:txBody>
      </p:sp>
      <p:sp>
        <p:nvSpPr>
          <p:cNvPr id="6" name="TextBox 5"/>
          <p:cNvSpPr txBox="1"/>
          <p:nvPr/>
        </p:nvSpPr>
        <p:spPr>
          <a:xfrm>
            <a:off x="1711234" y="3432089"/>
            <a:ext cx="11848010" cy="1198880"/>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The Products Table </a:t>
            </a:r>
          </a:p>
          <a:p>
            <a:r>
              <a:rPr lang="en-US" sz="2400" dirty="0">
                <a:ln>
                  <a:solidFill>
                    <a:schemeClr val="bg1"/>
                  </a:solidFill>
                </a:ln>
                <a:solidFill>
                  <a:schemeClr val="bg1"/>
                </a:solidFill>
              </a:rPr>
              <a:t>               </a:t>
            </a:r>
            <a:r>
              <a:rPr lang="en-US" sz="2400" dirty="0">
                <a:solidFill>
                  <a:schemeClr val="bg1"/>
                </a:solidFill>
              </a:rPr>
              <a:t>Manages the inventory, keeping track of product names, descriptions, prices and stock levels. </a:t>
            </a:r>
          </a:p>
        </p:txBody>
      </p:sp>
      <p:sp>
        <p:nvSpPr>
          <p:cNvPr id="7" name="TextBox 6"/>
          <p:cNvSpPr txBox="1"/>
          <p:nvPr/>
        </p:nvSpPr>
        <p:spPr>
          <a:xfrm>
            <a:off x="1711234" y="5059652"/>
            <a:ext cx="11848010" cy="829945"/>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The Orders Table </a:t>
            </a:r>
          </a:p>
          <a:p>
            <a:r>
              <a:rPr lang="en-US" sz="2400" dirty="0">
                <a:ln>
                  <a:solidFill>
                    <a:schemeClr val="bg1"/>
                  </a:solidFill>
                </a:ln>
                <a:solidFill>
                  <a:schemeClr val="bg1"/>
                </a:solidFill>
              </a:rPr>
              <a:t>               </a:t>
            </a:r>
            <a:r>
              <a:rPr lang="en-US" sz="2400" dirty="0">
                <a:solidFill>
                  <a:schemeClr val="bg1"/>
                </a:solidFill>
              </a:rPr>
              <a:t>Tracks customer orders, linked to products and customer. </a:t>
            </a:r>
          </a:p>
        </p:txBody>
      </p:sp>
      <p:sp>
        <p:nvSpPr>
          <p:cNvPr id="8" name="TextBox 7"/>
          <p:cNvSpPr txBox="1"/>
          <p:nvPr/>
        </p:nvSpPr>
        <p:spPr>
          <a:xfrm>
            <a:off x="1711234" y="6317884"/>
            <a:ext cx="11848010" cy="829945"/>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The Employees Table </a:t>
            </a:r>
          </a:p>
          <a:p>
            <a:r>
              <a:rPr lang="en-US" sz="2400" dirty="0">
                <a:ln>
                  <a:solidFill>
                    <a:schemeClr val="bg1"/>
                  </a:solidFill>
                </a:ln>
                <a:solidFill>
                  <a:schemeClr val="bg1"/>
                </a:solidFill>
              </a:rPr>
              <a:t>               </a:t>
            </a:r>
            <a:r>
              <a:rPr lang="en-US" sz="2400" dirty="0">
                <a:solidFill>
                  <a:schemeClr val="bg1"/>
                </a:solidFill>
              </a:rPr>
              <a:t>Holds data about the staff, including their roles within the shop. </a:t>
            </a:r>
          </a:p>
        </p:txBody>
      </p:sp>
      <p:sp>
        <p:nvSpPr>
          <p:cNvPr id="9" name="TextBox 8"/>
          <p:cNvSpPr txBox="1"/>
          <p:nvPr/>
        </p:nvSpPr>
        <p:spPr>
          <a:xfrm>
            <a:off x="1188720" y="1532663"/>
            <a:ext cx="10189028" cy="460375"/>
          </a:xfrm>
          <a:prstGeom prst="rect">
            <a:avLst/>
          </a:prstGeom>
          <a:noFill/>
        </p:spPr>
        <p:txBody>
          <a:bodyPr wrap="square" rtlCol="0">
            <a:spAutoFit/>
          </a:bodyPr>
          <a:lstStyle/>
          <a:p>
            <a:r>
              <a:rPr lang="en-US" sz="2400" dirty="0">
                <a:solidFill>
                  <a:schemeClr val="bg1"/>
                </a:solidFill>
              </a:rPr>
              <a:t>Relationships are established using foreign keys to maintain data integrity.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hatsApp Image 2024-08-31 at 22.24.37"/>
          <p:cNvPicPr>
            <a:picLocks noGrp="1" noChangeAspect="1"/>
          </p:cNvPicPr>
          <p:nvPr>
            <p:ph idx="1"/>
          </p:nvPr>
        </p:nvPicPr>
        <p:blipFill>
          <a:blip r:embed="rId2"/>
          <a:stretch>
            <a:fillRect/>
          </a:stretch>
        </p:blipFill>
        <p:spPr>
          <a:xfrm>
            <a:off x="0" y="0"/>
            <a:ext cx="9566275" cy="8229600"/>
          </a:xfrm>
          <a:prstGeom prst="rect">
            <a:avLst/>
          </a:prstGeom>
        </p:spPr>
      </p:pic>
      <p:pic>
        <p:nvPicPr>
          <p:cNvPr id="6" name="Picture 5" descr="WhatsApp Image 2024-08-31 at 22.29.17"/>
          <p:cNvPicPr>
            <a:picLocks noChangeAspect="1"/>
          </p:cNvPicPr>
          <p:nvPr/>
        </p:nvPicPr>
        <p:blipFill>
          <a:blip r:embed="rId3"/>
          <a:srcRect r="26332"/>
          <a:stretch>
            <a:fillRect/>
          </a:stretch>
        </p:blipFill>
        <p:spPr>
          <a:xfrm>
            <a:off x="9566275" y="0"/>
            <a:ext cx="5064125" cy="8249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74654"/>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4023" y="0"/>
            <a:ext cx="6936377" cy="8229600"/>
          </a:xfrm>
          <a:prstGeom prst="rect">
            <a:avLst/>
          </a:prstGeom>
        </p:spPr>
      </p:pic>
      <p:sp>
        <p:nvSpPr>
          <p:cNvPr id="8" name="TextBox 7"/>
          <p:cNvSpPr txBox="1"/>
          <p:nvPr/>
        </p:nvSpPr>
        <p:spPr>
          <a:xfrm>
            <a:off x="1397728" y="169816"/>
            <a:ext cx="1293223" cy="755650"/>
          </a:xfrm>
          <a:prstGeom prst="rect">
            <a:avLst/>
          </a:prstGeom>
          <a:noFill/>
          <a:ln>
            <a:noFill/>
          </a:ln>
        </p:spPr>
        <p:txBody>
          <a:bodyPr wrap="square" rtlCol="0">
            <a:spAutoFit/>
          </a:bodyPr>
          <a:lstStyle/>
          <a:p>
            <a:r>
              <a:rPr lang="en-US" sz="4320" u="sng" dirty="0">
                <a:ln>
                  <a:solidFill>
                    <a:schemeClr val="bg1"/>
                  </a:solidFill>
                </a:ln>
                <a:solidFill>
                  <a:schemeClr val="bg1"/>
                </a:solidFill>
              </a:rPr>
              <a:t>CSS</a:t>
            </a:r>
          </a:p>
        </p:txBody>
      </p:sp>
      <p:sp>
        <p:nvSpPr>
          <p:cNvPr id="9" name="TextBox 8"/>
          <p:cNvSpPr txBox="1"/>
          <p:nvPr/>
        </p:nvSpPr>
        <p:spPr>
          <a:xfrm>
            <a:off x="300446" y="1190978"/>
            <a:ext cx="7393577" cy="755650"/>
          </a:xfrm>
          <a:prstGeom prst="rect">
            <a:avLst/>
          </a:prstGeom>
          <a:noFill/>
          <a:ln>
            <a:noFill/>
          </a:ln>
        </p:spPr>
        <p:txBody>
          <a:bodyPr wrap="square" rtlCol="0">
            <a:spAutoFit/>
          </a:bodyPr>
          <a:lstStyle/>
          <a:p>
            <a:r>
              <a:rPr lang="en-US" sz="2160" dirty="0">
                <a:solidFill>
                  <a:schemeClr val="bg1"/>
                </a:solidFill>
              </a:rPr>
              <a:t>Our project utilizes CSS to manage the visual design and enhance user experience.</a:t>
            </a:r>
          </a:p>
        </p:txBody>
      </p:sp>
      <p:sp>
        <p:nvSpPr>
          <p:cNvPr id="10" name="TextBox 9"/>
          <p:cNvSpPr txBox="1"/>
          <p:nvPr/>
        </p:nvSpPr>
        <p:spPr>
          <a:xfrm>
            <a:off x="483325" y="2377442"/>
            <a:ext cx="7210698" cy="1456690"/>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Structure and Layout </a:t>
            </a:r>
          </a:p>
          <a:p>
            <a:r>
              <a:rPr lang="en-US" sz="2160" dirty="0">
                <a:ln>
                  <a:solidFill>
                    <a:schemeClr val="bg1"/>
                  </a:solidFill>
                </a:ln>
                <a:solidFill>
                  <a:schemeClr val="bg1"/>
                </a:solidFill>
              </a:rPr>
              <a:t>       </a:t>
            </a:r>
            <a:r>
              <a:rPr lang="en-US" sz="2160" dirty="0">
                <a:solidFill>
                  <a:schemeClr val="bg1"/>
                </a:solidFill>
              </a:rPr>
              <a:t>CSS ensures our website is responsive and visually consistent. We used Flexbox and grid layouts to arrange elements effectively across different devices.</a:t>
            </a:r>
          </a:p>
        </p:txBody>
      </p:sp>
      <p:sp>
        <p:nvSpPr>
          <p:cNvPr id="11" name="TextBox 10"/>
          <p:cNvSpPr txBox="1"/>
          <p:nvPr/>
        </p:nvSpPr>
        <p:spPr>
          <a:xfrm>
            <a:off x="483325" y="4033990"/>
            <a:ext cx="7210698" cy="1494155"/>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Styling and Theme  </a:t>
            </a:r>
          </a:p>
          <a:p>
            <a:r>
              <a:rPr lang="en-US" sz="2400" dirty="0">
                <a:solidFill>
                  <a:schemeClr val="bg1"/>
                </a:solidFill>
              </a:rPr>
              <a:t>       </a:t>
            </a:r>
            <a:r>
              <a:rPr lang="en-US" sz="2160" dirty="0">
                <a:solidFill>
                  <a:schemeClr val="bg1"/>
                </a:solidFill>
              </a:rPr>
              <a:t>Though CSS, we define the site’s color schemes, fonts and spacing. This consistency reinforces the flower shop’s brand identity and creates a cohesive look.         </a:t>
            </a:r>
          </a:p>
        </p:txBody>
      </p:sp>
      <p:sp>
        <p:nvSpPr>
          <p:cNvPr id="12" name="TextBox 11"/>
          <p:cNvSpPr txBox="1"/>
          <p:nvPr/>
        </p:nvSpPr>
        <p:spPr>
          <a:xfrm>
            <a:off x="483325" y="5778016"/>
            <a:ext cx="7210698" cy="1162050"/>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2400" dirty="0">
                <a:ln>
                  <a:solidFill>
                    <a:schemeClr val="bg1"/>
                  </a:solidFill>
                </a:ln>
                <a:solidFill>
                  <a:schemeClr val="bg1"/>
                </a:solidFill>
              </a:rPr>
              <a:t>Interactivity</a:t>
            </a:r>
          </a:p>
          <a:p>
            <a:r>
              <a:rPr lang="en-US" sz="2400" dirty="0">
                <a:ln>
                  <a:solidFill>
                    <a:schemeClr val="bg1"/>
                  </a:solidFill>
                </a:ln>
                <a:solidFill>
                  <a:schemeClr val="bg1"/>
                </a:solidFill>
              </a:rPr>
              <a:t>       </a:t>
            </a:r>
            <a:r>
              <a:rPr lang="en-US" sz="2400" dirty="0">
                <a:solidFill>
                  <a:schemeClr val="bg1"/>
                </a:solidFill>
              </a:rPr>
              <a:t> </a:t>
            </a:r>
            <a:r>
              <a:rPr lang="en-US" sz="2160" dirty="0">
                <a:solidFill>
                  <a:schemeClr val="bg1"/>
                </a:solidFill>
              </a:rPr>
              <a:t>CSS adds interactivity with hover effects and animations, making the site more engaging and user-friendly.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sApp Image 2024-08-31 at 22.29.18(2)"/>
          <p:cNvPicPr>
            <a:picLocks noChangeAspect="1"/>
          </p:cNvPicPr>
          <p:nvPr/>
        </p:nvPicPr>
        <p:blipFill>
          <a:blip r:embed="rId2"/>
          <a:stretch>
            <a:fillRect/>
          </a:stretch>
        </p:blipFill>
        <p:spPr>
          <a:xfrm>
            <a:off x="0" y="0"/>
            <a:ext cx="7508875" cy="8230235"/>
          </a:xfrm>
          <a:prstGeom prst="rect">
            <a:avLst/>
          </a:prstGeom>
        </p:spPr>
      </p:pic>
      <p:pic>
        <p:nvPicPr>
          <p:cNvPr id="5" name="Picture 4" descr="WhatsApp Image 2024-08-31 at 22.29.18(3)"/>
          <p:cNvPicPr>
            <a:picLocks noChangeAspect="1"/>
          </p:cNvPicPr>
          <p:nvPr/>
        </p:nvPicPr>
        <p:blipFill>
          <a:blip r:embed="rId3"/>
          <a:stretch>
            <a:fillRect/>
          </a:stretch>
        </p:blipFill>
        <p:spPr>
          <a:xfrm>
            <a:off x="6624955" y="0"/>
            <a:ext cx="8309610" cy="82289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sApp Image 2024-08-31 at 22.29.18(4)"/>
          <p:cNvPicPr>
            <a:picLocks noChangeAspect="1"/>
          </p:cNvPicPr>
          <p:nvPr/>
        </p:nvPicPr>
        <p:blipFill>
          <a:blip r:embed="rId2"/>
          <a:stretch>
            <a:fillRect/>
          </a:stretch>
        </p:blipFill>
        <p:spPr>
          <a:xfrm>
            <a:off x="0" y="635"/>
            <a:ext cx="7729220" cy="8229600"/>
          </a:xfrm>
          <a:prstGeom prst="rect">
            <a:avLst/>
          </a:prstGeom>
        </p:spPr>
      </p:pic>
      <p:pic>
        <p:nvPicPr>
          <p:cNvPr id="5" name="Picture 4" descr="WhatsApp Image 2024-08-31 at 22.29.59"/>
          <p:cNvPicPr>
            <a:picLocks noChangeAspect="1"/>
          </p:cNvPicPr>
          <p:nvPr/>
        </p:nvPicPr>
        <p:blipFill>
          <a:blip r:embed="rId3"/>
          <a:stretch>
            <a:fillRect/>
          </a:stretch>
        </p:blipFill>
        <p:spPr>
          <a:xfrm>
            <a:off x="5931535" y="635"/>
            <a:ext cx="8698865" cy="8229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hatsApp Image 2024-08-31 at 22.30.13"/>
          <p:cNvPicPr>
            <a:picLocks noChangeAspect="1"/>
          </p:cNvPicPr>
          <p:nvPr/>
        </p:nvPicPr>
        <p:blipFill>
          <a:blip r:embed="rId2"/>
          <a:stretch>
            <a:fillRect/>
          </a:stretch>
        </p:blipFill>
        <p:spPr>
          <a:xfrm>
            <a:off x="0" y="0"/>
            <a:ext cx="8482965" cy="8243570"/>
          </a:xfrm>
          <a:prstGeom prst="rect">
            <a:avLst/>
          </a:prstGeom>
        </p:spPr>
      </p:pic>
      <p:pic>
        <p:nvPicPr>
          <p:cNvPr id="6" name="Picture 5" descr="WhatsApp Image 2024-08-31 at 22.30.13(1)"/>
          <p:cNvPicPr>
            <a:picLocks noChangeAspect="1"/>
          </p:cNvPicPr>
          <p:nvPr/>
        </p:nvPicPr>
        <p:blipFill>
          <a:blip r:embed="rId3"/>
          <a:stretch>
            <a:fillRect/>
          </a:stretch>
        </p:blipFill>
        <p:spPr>
          <a:xfrm>
            <a:off x="4548505" y="0"/>
            <a:ext cx="10248900" cy="82473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74654"/>
        </a:solidFill>
        <a:effectLst/>
      </p:bgPr>
    </p:bg>
    <p:spTree>
      <p:nvGrpSpPr>
        <p:cNvPr id="1" name=""/>
        <p:cNvGrpSpPr/>
        <p:nvPr/>
      </p:nvGrpSpPr>
      <p:grpSpPr>
        <a:xfrm>
          <a:off x="0" y="0"/>
          <a:ext cx="0" cy="0"/>
          <a:chOff x="0" y="0"/>
          <a:chExt cx="0" cy="0"/>
        </a:xfrm>
      </p:grpSpPr>
      <p:sp>
        <p:nvSpPr>
          <p:cNvPr id="4" name="Text 1"/>
          <p:cNvSpPr/>
          <p:nvPr/>
        </p:nvSpPr>
        <p:spPr>
          <a:xfrm>
            <a:off x="864037" y="1035964"/>
            <a:ext cx="6478906" cy="685800"/>
          </a:xfrm>
          <a:prstGeom prst="rect">
            <a:avLst/>
          </a:prstGeom>
          <a:noFill/>
        </p:spPr>
        <p:txBody>
          <a:bodyPr wrap="none" lIns="0" tIns="0" rIns="0" bIns="0" rtlCol="0" anchor="t"/>
          <a:lstStyle/>
          <a:p>
            <a:pPr>
              <a:lnSpc>
                <a:spcPts val="4500"/>
              </a:lnSpc>
            </a:pPr>
            <a:r>
              <a:rPr lang="en-US" sz="4320" u="sng" dirty="0">
                <a:solidFill>
                  <a:schemeClr val="bg1"/>
                </a:solidFill>
                <a:cs typeface="+mn-lt"/>
              </a:rPr>
              <a:t>Challenges and Solusions </a:t>
            </a:r>
          </a:p>
        </p:txBody>
      </p:sp>
      <p:sp>
        <p:nvSpPr>
          <p:cNvPr id="5" name="Text 2"/>
          <p:cNvSpPr/>
          <p:nvPr/>
        </p:nvSpPr>
        <p:spPr>
          <a:xfrm>
            <a:off x="864037" y="2215516"/>
            <a:ext cx="12902327" cy="790099"/>
          </a:xfrm>
          <a:prstGeom prst="rect">
            <a:avLst/>
          </a:prstGeom>
          <a:noFill/>
        </p:spPr>
        <p:txBody>
          <a:bodyPr wrap="square" lIns="0" tIns="0" rIns="0" bIns="0" rtlCol="0" anchor="t"/>
          <a:lstStyle/>
          <a:p>
            <a:pPr>
              <a:lnSpc>
                <a:spcPts val="2585"/>
              </a:lnSpc>
            </a:pPr>
            <a:r>
              <a:rPr lang="en-US" sz="2160" dirty="0">
                <a:solidFill>
                  <a:srgbClr val="E0E4E6"/>
                </a:solidFill>
                <a:ea typeface="Barlow" panose="00000500000000000000" pitchFamily="34" charset="-122"/>
              </a:rPr>
              <a:t>Our database ensure efficient and reliable management of the flower shop, supporting smooth operation and future scalability. </a:t>
            </a:r>
            <a:endParaRPr lang="en-US" sz="2160" dirty="0"/>
          </a:p>
        </p:txBody>
      </p:sp>
      <p:sp>
        <p:nvSpPr>
          <p:cNvPr id="7" name="Text 4"/>
          <p:cNvSpPr/>
          <p:nvPr/>
        </p:nvSpPr>
        <p:spPr>
          <a:xfrm>
            <a:off x="864037" y="4119802"/>
            <a:ext cx="3898822" cy="790099"/>
          </a:xfrm>
          <a:prstGeom prst="rect">
            <a:avLst/>
          </a:prstGeom>
          <a:noFill/>
        </p:spPr>
        <p:txBody>
          <a:bodyPr wrap="square" lIns="0" tIns="0" rIns="0" bIns="0" rtlCol="0" anchor="t"/>
          <a:lstStyle/>
          <a:p>
            <a:pPr>
              <a:lnSpc>
                <a:spcPts val="2585"/>
              </a:lnSpc>
            </a:pPr>
            <a:endParaRPr lang="en-US" sz="1900" dirty="0"/>
          </a:p>
        </p:txBody>
      </p:sp>
      <p:sp>
        <p:nvSpPr>
          <p:cNvPr id="15" name="Rectangle 14"/>
          <p:cNvSpPr/>
          <p:nvPr/>
        </p:nvSpPr>
        <p:spPr>
          <a:xfrm>
            <a:off x="864037" y="3341108"/>
            <a:ext cx="5561330" cy="460375"/>
          </a:xfrm>
          <a:prstGeom prst="rect">
            <a:avLst/>
          </a:prstGeom>
        </p:spPr>
        <p:txBody>
          <a:bodyPr wrap="none">
            <a:spAutoFit/>
          </a:bodyPr>
          <a:lstStyle/>
          <a:p>
            <a:r>
              <a:rPr lang="en-US" sz="2400" b="1" dirty="0">
                <a:solidFill>
                  <a:schemeClr val="bg1"/>
                </a:solidFill>
              </a:rPr>
              <a:t>Balancing normalization and performance.</a:t>
            </a:r>
          </a:p>
        </p:txBody>
      </p:sp>
      <p:sp>
        <p:nvSpPr>
          <p:cNvPr id="16" name="Rectangle 15"/>
          <p:cNvSpPr/>
          <p:nvPr/>
        </p:nvSpPr>
        <p:spPr>
          <a:xfrm>
            <a:off x="1410787" y="3784307"/>
            <a:ext cx="12355576" cy="423545"/>
          </a:xfrm>
          <a:prstGeom prst="rect">
            <a:avLst/>
          </a:prstGeom>
        </p:spPr>
        <p:txBody>
          <a:bodyPr wrap="square">
            <a:spAutoFit/>
          </a:bodyPr>
          <a:lstStyle/>
          <a:p>
            <a:pPr marL="285750" indent="-285750">
              <a:buFont typeface="Arial" panose="020B0604020202020204" pitchFamily="34" charset="0"/>
              <a:buChar char="•"/>
            </a:pPr>
            <a:r>
              <a:rPr lang="en-US" sz="2160" dirty="0">
                <a:solidFill>
                  <a:schemeClr val="bg1"/>
                </a:solidFill>
              </a:rPr>
              <a:t>We normalized the database to avoid redundancy, while indexing was used to maintain query performance.</a:t>
            </a:r>
          </a:p>
        </p:txBody>
      </p:sp>
      <p:sp>
        <p:nvSpPr>
          <p:cNvPr id="17" name="Rectangle 16"/>
          <p:cNvSpPr/>
          <p:nvPr/>
        </p:nvSpPr>
        <p:spPr>
          <a:xfrm>
            <a:off x="864037" y="4858464"/>
            <a:ext cx="6600825" cy="460375"/>
          </a:xfrm>
          <a:prstGeom prst="rect">
            <a:avLst/>
          </a:prstGeom>
        </p:spPr>
        <p:txBody>
          <a:bodyPr wrap="none">
            <a:spAutoFit/>
          </a:bodyPr>
          <a:lstStyle/>
          <a:p>
            <a:r>
              <a:rPr lang="en-US" sz="2400" b="1" dirty="0">
                <a:solidFill>
                  <a:schemeClr val="bg1"/>
                </a:solidFill>
              </a:rPr>
              <a:t>Ensuring data integrity with complex relationships.</a:t>
            </a:r>
          </a:p>
        </p:txBody>
      </p:sp>
      <p:sp>
        <p:nvSpPr>
          <p:cNvPr id="18" name="Rectangle 17"/>
          <p:cNvSpPr/>
          <p:nvPr/>
        </p:nvSpPr>
        <p:spPr>
          <a:xfrm>
            <a:off x="1410787" y="5298566"/>
            <a:ext cx="7916092" cy="423545"/>
          </a:xfrm>
          <a:prstGeom prst="rect">
            <a:avLst/>
          </a:prstGeom>
        </p:spPr>
        <p:txBody>
          <a:bodyPr wrap="square">
            <a:spAutoFit/>
          </a:bodyPr>
          <a:lstStyle/>
          <a:p>
            <a:pPr marL="285750" indent="-285750">
              <a:buFont typeface="Arial" panose="020B0604020202020204" pitchFamily="34" charset="0"/>
              <a:buChar char="•"/>
            </a:pPr>
            <a:r>
              <a:rPr lang="en-US" sz="2160" dirty="0">
                <a:solidFill>
                  <a:schemeClr val="bg1"/>
                </a:solidFill>
              </a:rPr>
              <a:t>We used foreign keys and constraints to enforce data consistency.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580680"/>
            <a:ext cx="7468553" cy="1943100"/>
          </a:xfrm>
          <a:prstGeom prst="rect">
            <a:avLst/>
          </a:prstGeom>
          <a:noFill/>
          <a:ln/>
        </p:spPr>
        <p:txBody>
          <a:bodyPr wrap="square" lIns="0" tIns="0" rIns="0" bIns="0" rtlCol="0" anchor="t"/>
          <a:lstStyle/>
          <a:p>
            <a:pPr marL="0" indent="0">
              <a:lnSpc>
                <a:spcPts val="7650"/>
              </a:lnSpc>
              <a:buNone/>
            </a:pPr>
            <a:r>
              <a:rPr lang="en-US" sz="6100" dirty="0">
                <a:solidFill>
                  <a:srgbClr val="FFFFFF"/>
                </a:solidFill>
                <a:latin typeface="Kanit" pitchFamily="34" charset="0"/>
                <a:ea typeface="Kanit" pitchFamily="34" charset="-122"/>
                <a:cs typeface="Kanit" pitchFamily="34" charset="-120"/>
              </a:rPr>
              <a:t>Thank You for Your Time</a:t>
            </a:r>
            <a:endParaRPr lang="en-US" sz="6100" dirty="0"/>
          </a:p>
        </p:txBody>
      </p:sp>
      <p:sp>
        <p:nvSpPr>
          <p:cNvPr id="4" name="Text 1"/>
          <p:cNvSpPr/>
          <p:nvPr/>
        </p:nvSpPr>
        <p:spPr>
          <a:xfrm>
            <a:off x="6324124" y="4882753"/>
            <a:ext cx="7468553" cy="766048"/>
          </a:xfrm>
          <a:prstGeom prst="rect">
            <a:avLst/>
          </a:prstGeom>
          <a:noFill/>
          <a:ln/>
        </p:spPr>
        <p:txBody>
          <a:bodyPr wrap="square" lIns="0" tIns="0" rIns="0" bIns="0" rtlCol="0" anchor="t"/>
          <a:lstStyle/>
          <a:p>
            <a:pPr marL="0" indent="0">
              <a:lnSpc>
                <a:spcPts val="3000"/>
              </a:lnSpc>
              <a:buNone/>
            </a:pPr>
            <a:r>
              <a:rPr lang="en-US" sz="1850" dirty="0">
                <a:solidFill>
                  <a:srgbClr val="D9E1FF"/>
                </a:solidFill>
                <a:latin typeface="Martel Sans" pitchFamily="34" charset="0"/>
                <a:ea typeface="Martel Sans" pitchFamily="34" charset="-122"/>
                <a:cs typeface="Martel Sans" pitchFamily="34" charset="-120"/>
              </a:rPr>
              <a:t>We appreciate your time and interest in our presentation. We hope you found the information valuable and insightful.</a:t>
            </a:r>
            <a:endParaRPr lang="en-US" sz="1850" dirty="0"/>
          </a:p>
        </p:txBody>
      </p:sp>
      <p:sp>
        <p:nvSpPr>
          <p:cNvPr id="5" name="Rectangle 4">
            <a:extLst>
              <a:ext uri="{FF2B5EF4-FFF2-40B4-BE49-F238E27FC236}">
                <a16:creationId xmlns:a16="http://schemas.microsoft.com/office/drawing/2014/main" id="{169866C4-2D87-4A72-ADF6-2DED77F15C4A}"/>
              </a:ext>
            </a:extLst>
          </p:cNvPr>
          <p:cNvSpPr/>
          <p:nvPr/>
        </p:nvSpPr>
        <p:spPr>
          <a:xfrm>
            <a:off x="12546106" y="7557247"/>
            <a:ext cx="2084294" cy="672353"/>
          </a:xfrm>
          <a:prstGeom prst="rect">
            <a:avLst/>
          </a:prstGeom>
          <a:solidFill>
            <a:srgbClr val="100C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982</Words>
  <Application>Microsoft Office PowerPoint</Application>
  <PresentationFormat>Custom</PresentationFormat>
  <Paragraphs>122</Paragraphs>
  <Slides>24</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Calibri</vt:lpstr>
      <vt:lpstr>Sitka Text</vt:lpstr>
      <vt:lpstr>Arial</vt:lpstr>
      <vt:lpstr>Martel Sans</vt:lpstr>
      <vt:lpstr>Times New Roman</vt:lpstr>
      <vt:lpstr>Barlow</vt:lpstr>
      <vt:lpstr>Calibri Light</vt:lpstr>
      <vt:lpstr>Spline Sans</vt:lpstr>
      <vt:lpstr>Kanit</vt:lpstr>
      <vt:lpstr>Inter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HMHansada eranga</cp:lastModifiedBy>
  <cp:revision>23</cp:revision>
  <dcterms:created xsi:type="dcterms:W3CDTF">2024-08-30T19:45:00Z</dcterms:created>
  <dcterms:modified xsi:type="dcterms:W3CDTF">2024-08-31T18:28:26Z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EE0AC2021C7C42C6B50F542F73A2E376</vt:lpwstr>
  </property>
  <property fmtid="{D5CDD505-2E9C-101B-9397-08002B2CF9AE}" pid="3" name="KSOProductBuildVer">
    <vt:lpwstr>1033-11.2.0.11536</vt:lpwstr>
  </property>
</Properties>
</file>